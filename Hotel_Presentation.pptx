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4.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Bookings</c:v>
                </c:pt>
              </c:strCache>
            </c:strRef>
          </c:tx>
          <c:spPr>
            <a:solidFill>
              <a:srgbClr val="065A82"/>
            </a:solidFill>
            <a:effectLst/>
          </c:spPr>
          <c:invertIfNegative val="0"/>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cat>
            <c:multiLvlStrRef>
              <c:f>Sheet1!$A$2:$A$8</c:f>
              <c:multiLvlStrCache>
                <c:ptCount val="7"/>
                <c:lvl>
                  <c:pt idx="0">
                    <c:v>1 night</c:v>
                  </c:pt>
                  <c:pt idx="1">
                    <c:v>2 nights</c:v>
                  </c:pt>
                  <c:pt idx="2">
                    <c:v>3 nights</c:v>
                  </c:pt>
                  <c:pt idx="3">
                    <c:v>4 nights</c:v>
                  </c:pt>
                  <c:pt idx="4">
                    <c:v>5 nights</c:v>
                  </c:pt>
                  <c:pt idx="5">
                    <c:v>6 nights</c:v>
                  </c:pt>
                  <c:pt idx="6">
                    <c:v>7+ nights</c:v>
                  </c:pt>
                </c:lvl>
              </c:multiLvlStrCache>
            </c:multiLvlStrRef>
          </c:cat>
          <c:val>
            <c:numRef>
              <c:f>Sheet1!$B$2:$B$8</c:f>
              <c:numCache>
                <c:formatCode>General</c:formatCode>
                <c:ptCount val="7"/>
                <c:pt idx="0">
                  <c:v>5</c:v>
                </c:pt>
                <c:pt idx="1">
                  <c:v>8</c:v>
                </c:pt>
                <c:pt idx="2">
                  <c:v>14</c:v>
                </c:pt>
                <c:pt idx="3">
                  <c:v>16</c:v>
                </c:pt>
                <c:pt idx="4">
                  <c:v>12</c:v>
                </c:pt>
                <c:pt idx="5">
                  <c:v>9</c:v>
                </c:pt>
                <c:pt idx="6">
                  <c:v>11</c:v>
                </c:pt>
              </c:numCache>
            </c:numRef>
          </c:val>
        </c:ser>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Room Distribution</c:v>
                </c:pt>
              </c:strCache>
            </c:strRef>
          </c:tx>
          <c:spPr>
            <a:solidFill>
              <a:schemeClr val="accent1"/>
            </a:solidFill>
            <a:ln w="9525" cap="flat">
              <a:solidFill>
                <a:srgbClr val="F9F9F9"/>
              </a:solidFill>
              <a:prstDash val="solid"/>
              <a:round/>
            </a:ln>
            <a:effectLst/>
          </c:spPr>
          <c:dPt>
            <c:idx val="0"/>
            <c:bubble3D val="0"/>
            <c:spPr>
              <a:solidFill>
                <a:srgbClr val="065A82"/>
              </a:solidFill>
              <a:effectLst/>
            </c:spPr>
          </c:dPt>
          <c:dPt>
            <c:idx val="1"/>
            <c:bubble3D val="0"/>
            <c:spPr>
              <a:solidFill>
                <a:srgbClr val="1C7293"/>
              </a:solidFill>
              <a:effectLst/>
            </c:spPr>
          </c:dPt>
          <c:dPt>
            <c:idx val="2"/>
            <c:bubble3D val="0"/>
            <c:spPr>
              <a:solidFill>
                <a:srgbClr val="F59E0B"/>
              </a:solidFill>
              <a:effectLst/>
            </c:spPr>
          </c:dPt>
          <c:dLbls>
            <c:dLbl>
              <c:idx val="0"/>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Double (40%)</c:v>
                </c:pt>
                <c:pt idx="1">
                  <c:v>Single (40%)</c:v>
                </c:pt>
                <c:pt idx="2">
                  <c:v>Suite (20%)</c:v>
                </c:pt>
              </c:strCache>
            </c:strRef>
          </c:cat>
          <c:val>
            <c:numRef>
              <c:f>Sheet1!$B$2:$B$4</c:f>
              <c:numCache>
                <c:ptCount val="3"/>
                <c:pt idx="0">
                  <c:v>12</c:v>
                </c:pt>
                <c:pt idx="1">
                  <c:v>12</c:v>
                </c:pt>
                <c:pt idx="2">
                  <c:v>6</c:v>
                </c:pt>
              </c:numCache>
            </c:numRef>
          </c:val>
        </c:ser>
        <c:firstSliceAng val="0"/>
      </c:pieChart>
      <c:spPr>
        <a:noFill/>
        <a:ln>
          <a:noFill/>
        </a:ln>
        <a:effectLst/>
      </c:spPr>
    </c:plotArea>
    <c:legend>
      <c:legendPos val="b"/>
      <c:overlay val="0"/>
      <c:txPr>
        <a:bodyPr/>
        <a:lstStyle/>
        <a:p>
          <a:pPr>
            <a:defRPr sz="1000">
              <a:solidFill>
                <a:srgbClr val="1E293B"/>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Revenue (EGP)</c:v>
                </c:pt>
              </c:strCache>
            </c:strRef>
          </c:tx>
          <c:spPr>
            <a:solidFill>
              <a:srgbClr val="065A82"/>
            </a:solidFill>
            <a:effectLst/>
          </c:spPr>
          <c:invertIfNegative val="0"/>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cat>
            <c:multiLvlStrRef>
              <c:f>Sheet1!$A$2:$A$6</c:f>
              <c:multiLvlStrCache>
                <c:ptCount val="5"/>
                <c:lvl>
                  <c:pt idx="0">
                    <c:v>Spa</c:v>
                  </c:pt>
                  <c:pt idx="1">
                    <c:v>Laundry</c:v>
                  </c:pt>
                  <c:pt idx="2">
                    <c:v>Dinner</c:v>
                  </c:pt>
                  <c:pt idx="3">
                    <c:v>Breakfast</c:v>
                  </c:pt>
                  <c:pt idx="4">
                    <c:v>Room Service</c:v>
                  </c:pt>
                </c:lvl>
              </c:multiLvlStrCache>
            </c:multiLvlStrRef>
          </c:cat>
          <c:val>
            <c:numRef>
              <c:f>Sheet1!$B$2:$B$6</c:f>
              <c:numCache>
                <c:formatCode>General</c:formatCode>
                <c:ptCount val="5"/>
                <c:pt idx="0">
                  <c:v>5500</c:v>
                </c:pt>
                <c:pt idx="1">
                  <c:v>2300</c:v>
                </c:pt>
                <c:pt idx="2">
                  <c:v>2100</c:v>
                </c:pt>
                <c:pt idx="3">
                  <c:v>1800</c:v>
                </c:pt>
                <c:pt idx="4">
                  <c:v>1200</c:v>
                </c:pt>
              </c:numCache>
            </c:numRef>
          </c:val>
        </c:ser>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E293B"/>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Accuracy %</c:v>
                </c:pt>
              </c:strCache>
            </c:strRef>
          </c:tx>
          <c:spPr>
            <a:solidFill>
              <a:srgbClr val="065A82"/>
            </a:solidFill>
            <a:effectLst/>
          </c:spPr>
          <c:invertIfNegative val="0"/>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065A82"/>
              </a:solidFill>
              <a:effectLst/>
            </c:spPr>
          </c:dPt>
          <c:dPt>
            <c:idx val="1"/>
            <c:invertIfNegative val="0"/>
            <c:bubble3D val="0"/>
            <c:spPr>
              <a:solidFill>
                <a:srgbClr val="1C7293"/>
              </a:solidFill>
              <a:effectLst/>
            </c:spPr>
          </c:dPt>
          <c:dPt>
            <c:idx val="2"/>
            <c:invertIfNegative val="0"/>
            <c:bubble3D val="0"/>
            <c:spPr>
              <a:solidFill>
                <a:srgbClr val="0EA5E9"/>
              </a:solidFill>
              <a:effectLst/>
            </c:spPr>
          </c:dPt>
          <c:dPt>
            <c:idx val="3"/>
            <c:invertIfNegative val="0"/>
            <c:bubble3D val="0"/>
            <c:spPr>
              <a:solidFill>
                <a:srgbClr val="38BDF8"/>
              </a:solidFill>
              <a:effectLst/>
            </c:spPr>
          </c:dPt>
          <c:dPt>
            <c:idx val="4"/>
            <c:invertIfNegative val="0"/>
            <c:bubble3D val="0"/>
            <c:spPr>
              <a:solidFill>
                <a:srgbClr val="7DD3FC"/>
              </a:solidFill>
              <a:effectLst/>
            </c:spPr>
          </c:dPt>
          <c:dPt>
            <c:idx val="5"/>
            <c:invertIfNegative val="0"/>
            <c:bubble3D val="0"/>
            <c:spPr>
              <a:solidFill>
                <a:srgbClr val="BAE6FD"/>
              </a:solidFill>
              <a:effectLst/>
            </c:spPr>
          </c:dPt>
          <c:dPt>
            <c:idx val="6"/>
            <c:invertIfNegative val="0"/>
            <c:bubble3D val="0"/>
            <c:spPr>
              <a:solidFill>
                <a:srgbClr val="67E8F9"/>
              </a:solidFill>
              <a:effectLst/>
            </c:spPr>
          </c:dPt>
          <c:dPt>
            <c:idx val="7"/>
            <c:invertIfNegative val="0"/>
            <c:bubble3D val="0"/>
            <c:spPr>
              <a:solidFill>
                <a:srgbClr val="E0F2FE"/>
              </a:solidFill>
              <a:effectLst/>
            </c:spPr>
          </c:dPt>
          <c:cat>
            <c:multiLvlStrRef>
              <c:f>Sheet1!$A$2:$A$9</c:f>
              <c:multiLvlStrCache>
                <c:ptCount val="8"/>
                <c:lvl>
                  <c:pt idx="0">
                    <c:v>Random
Forest</c:v>
                  </c:pt>
                  <c:pt idx="1">
                    <c:v>Gradient
Boosting</c:v>
                  </c:pt>
                  <c:pt idx="2">
                    <c:v>SVM</c:v>
                  </c:pt>
                  <c:pt idx="3">
                    <c:v>AdaBoost</c:v>
                  </c:pt>
                  <c:pt idx="4">
                    <c:v>Decision
Tree</c:v>
                  </c:pt>
                  <c:pt idx="5">
                    <c:v>Logistic
Reg.</c:v>
                  </c:pt>
                  <c:pt idx="6">
                    <c:v>Neural
Net</c:v>
                  </c:pt>
                  <c:pt idx="7">
                    <c:v>kNN</c:v>
                  </c:pt>
                </c:lvl>
              </c:multiLvlStrCache>
            </c:multiLvlStrRef>
          </c:cat>
          <c:val>
            <c:numRef>
              <c:f>Sheet1!$B$2:$B$9</c:f>
              <c:numCache>
                <c:formatCode>General</c:formatCode>
                <c:ptCount val="8"/>
                <c:pt idx="0">
                  <c:v>81</c:v>
                </c:pt>
                <c:pt idx="1">
                  <c:v>78</c:v>
                </c:pt>
                <c:pt idx="2">
                  <c:v>75</c:v>
                </c:pt>
                <c:pt idx="3">
                  <c:v>74</c:v>
                </c:pt>
                <c:pt idx="4">
                  <c:v>70</c:v>
                </c:pt>
                <c:pt idx="5">
                  <c:v>68</c:v>
                </c:pt>
                <c:pt idx="6">
                  <c:v>73</c:v>
                </c:pt>
                <c:pt idx="7">
                  <c:v>65</c:v>
                </c:pt>
              </c:numCache>
            </c:numRef>
          </c:val>
        </c:ser>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1E293B"/>
                </a:solidFill>
                <a:latin typeface="Arial"/>
              </a:defRPr>
            </a:pPr>
            <a:endParaRPr lang="en-US"/>
          </a:p>
        </c:txPr>
        <c:crossAx val="2094734552"/>
        <c:crosses val="autoZero"/>
        <c:auto val="1"/>
        <c:lblAlgn val="ctr"/>
        <c:noMultiLvlLbl val="1"/>
      </c:catAx>
      <c:valAx>
        <c:axId val="2094734552"/>
        <c:scaling>
          <c:orientation val="minMax"/>
          <c:max val="90"/>
          <c:min val="5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present our Hotel Reservation and Billing Management System — a full end-to-end data pipeline project. Our team of six built this system using SQL Server for database design, Python for exploratory data analysis, Orange Data Mining for machine learning, and Power BI for dashboarding. Let me walk you through our journey.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is a full end-to-end data pipeline. We start with designing a relational database, implement it in SQL Server, then extract insights through SQL queries. Next, we move to Python for EDA and use Orange for machine learning. Finally, Power BI brings everything together in an interactive dashboard. Our dataset covers 75+ reservations, 30 guests, 30 rooms across 2 buildings.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Hotels today generate enormous volumes of data from check-ins, room assignments, service usage, and billing. Without a structured database system, this leads to four major problems: manual operations causing errors, revenue leakage from untracked payments, poor guest experience without centralized profiles, and zero predictive capabilities for demand forecasting.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six core objectives span the entire data pipeline. First, we designed a normalized database following 3NF principles. Then we implemented it in SQL Server with full constraints. We wrote 10 advanced analytical queries to answer real business questions. Python EDA helped us uncover patterns, Orange gave us predictive models, and Power BI provided the management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dataset contains over 75 reservation records with 20+ features covering the period from October 2025 to March 2026. The target variable is reservation_status with 5 possible values. Key features include nights stayed, room type, booking source, total price, and guest city. We have a mix of categorical, numerical, and datetime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preprocessing was critical for model performance. We engineered new features like lead time and check-in day-of-week. Categorical variables were encoded, and numeric features were standardized — especially important for SVM and kNN models. We also ran outlier detection using IQR and z-score methods to clean extreme values in pricing and stay duration.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Missing values were a significant data quality concern. Booking Source had about 15% NULL values, which we imputed with mode. Cancellation Reason was almost entirely missing — we flagged this as a system gap. The recommendation is to make both fields mandatory in the booking form. We used median/mode imputation in Orange's Preprocess widget for remaining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EDA covered four main areas. Distribution analysis showed most guests stay 3-5 nights with prices mainly between 1,500 and 4,500 EGP. Correlation analysis revealed a strong relationship between nights and total price. Segmentation showed couples are the most common guest type at 55%, and temporal analysis identified January 2026 as the peak booking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histogram shows the distribution of stay duration. The mean is about 4.8 nights with a median of 4 — there's a slight right skew from some long-stay guests pulling the mean up. Most guests stay between 3 and 5 nights, which suggests mid-stay packages of 3-5 nights would match the peak demand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hotel has 30 rooms split evenly between Double and Single types at 40% each, with Suites making up 20%. Pricing ranges from 500 EGP per night for Single rooms to 1,500 for Suites. This distribution shows the hotel primarily targets budget-to-mid-range guests, with Suites as premium offerings. Double rooms at 900 EGP per night provide the best revenue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 is our top service by revenue at 5,500 EGP from just 10 uses — that's 550 EGP per use, the highest of any service. Laundry also had 10 uses but generated only 2,300 EGP. This clearly suggests we should invest in Spa capacity and create bundled packages, especially for Suite guests who already spend more on premium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correlation heatmap reveals a very strong positive correlation of about 0.9 between nights stayed and total price — as expected since price equals nights times nightly rate. Nightly rate has a moderate correlation with total price at 0.6. Interestingly, discounts show near-zero correlation with other features, suggesting they're applied somewhat randomly rather than strategically.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Orange workflow starts with CSV import from the SQL Server export, then we set the target variable using Edit Domain. Preprocessing normalizes numeric features and encodes categoricals. We select the most relevant features identified during EDA, then split 80/20 using stratified sampling. The data feeds into 8 different classification models. Random Forest, highlighted here, was our best performer.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evaluated 8 classification models covering different algorithm families. Three ensemble methods — Random Forest, Gradient Boosting, and AdaBoost — along with SVM, Decision Tree, Logistic Regression, Neural Network, and kNN. This diversity ensures we're not biased toward any single approach and can identify which algorithm family works best for our booking prediction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comparison chart clearly shows Random Forest leading at 81% accuracy. Gradient Boosting comes close at 78% with slightly better minority class recall. SVM and Neural Network are competitive in the mid-70s range. The Decision Tree overfits at 100% training accuracy but drops to about 70% on test data. kNN is the weakest performer, struggling with the high dimensionality of encoded categoricals.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 Forest won with 81% accuracy. The key reasons: it has the lowest false-negative rate for cancelled bookings, it's robust to outliers and class imbalance, and unlike the Decision Tree, it doesn't overfit. Feature importance analysis shows nights and nightly rate are the top predictors — guests with longer, more expensive stays are less likely to cancel because they have more invested. This model could realistically be deployed to flag at-risk reservations.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Power BI dashboard tracks four key KPIs. Current occupancy is 3.57% — low because this is test data, but the target is 70-80%. Average stay is 4.8 nights. Cancellation rate is 3.5%, well below industry average. The dashboard features interactive slicers to filter by room type, date range, and building, plus revenue analytics and operational views for housekeeping and staff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key insights emerged from our analysis. First, there's a revenue concentration risk — losing just a few VIP guests would significantly impact revenue. Second, Spa is our best revenue-per-use service but it's underutilized. January is peak month. Walk-in bookings are risky. Direct bookings are most profitable. Building B2 needs housekeeping reinforcement. And our ML model confirms that longer, higher-rate stays are the safest bookings.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recommendations fall into three categories. For revenue: implement dynamic pricing, create Spa packages, and incentivize direct bookings. For occupancy: target corporate mid-week travel, create weekend packages for nearby cities, and offer last-minute discounts. For data quality: make Booking Source and Cancellation Reason mandatory, and implement automated status update triggers.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we built a complete end-to-end data pipeline for hotel management. Our 13-entity database in 3NF provides a solid foundation. Ten advanced SQL queries answer real business questions. Random Forest at 81% accuracy can flag at-risk reservations. And our recommendations — from dynamic pricing to Spa investment to data quality improvements — provide a concrete roadmap for improving hotel profitability. Thank you for your attention.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0" y="0"/>
            <a:ext cx="9144000" cy="1828800"/>
          </a:xfrm>
          <a:prstGeom prst="rect">
            <a:avLst/>
          </a:prstGeom>
          <a:solidFill>
            <a:srgbClr val="065A82">
              <a:alpha val="60000"/>
            </a:srgbClr>
          </a:solidFill>
          <a:ln/>
        </p:spPr>
      </p:sp>
      <p:sp>
        <p:nvSpPr>
          <p:cNvPr id="3" name="Shape 1"/>
          <p:cNvSpPr/>
          <p:nvPr/>
        </p:nvSpPr>
        <p:spPr>
          <a:xfrm>
            <a:off x="0" y="4023360"/>
            <a:ext cx="9144000" cy="1120140"/>
          </a:xfrm>
          <a:prstGeom prst="rect">
            <a:avLst/>
          </a:prstGeom>
          <a:solidFill>
            <a:srgbClr val="065A82">
              <a:alpha val="60000"/>
            </a:srgbClr>
          </a:solidFill>
          <a:ln/>
        </p:spPr>
      </p:sp>
      <p:pic>
        <p:nvPicPr>
          <p:cNvPr id="4" name="Image 0" descr="preencoded.png">    </p:cNvPr>
          <p:cNvPicPr>
            <a:picLocks noChangeAspect="1"/>
          </p:cNvPicPr>
          <p:nvPr/>
        </p:nvPicPr>
        <p:blipFill>
          <a:blip r:embed="rId1"/>
          <a:stretch>
            <a:fillRect/>
          </a:stretch>
        </p:blipFill>
        <p:spPr>
          <a:xfrm>
            <a:off x="4160520" y="548640"/>
            <a:ext cx="822960" cy="822960"/>
          </a:xfrm>
          <a:prstGeom prst="rect">
            <a:avLst/>
          </a:prstGeom>
        </p:spPr>
      </p:pic>
      <p:sp>
        <p:nvSpPr>
          <p:cNvPr id="5" name="Text 2"/>
          <p:cNvSpPr/>
          <p:nvPr/>
        </p:nvSpPr>
        <p:spPr>
          <a:xfrm>
            <a:off x="457200" y="1554480"/>
            <a:ext cx="8229600" cy="1280160"/>
          </a:xfrm>
          <a:prstGeom prst="rect">
            <a:avLst/>
          </a:prstGeom>
          <a:noFill/>
          <a:ln/>
        </p:spPr>
        <p:txBody>
          <a:bodyPr wrap="square" rtlCol="0" anchor="ctr"/>
          <a:lstStyle/>
          <a:p>
            <a:pPr algn="ctr" indent="0" marL="0">
              <a:lnSpc>
                <a:spcPct val="110000"/>
              </a:lnSpc>
              <a:buNone/>
            </a:pPr>
            <a:r>
              <a:rPr lang="en-US" sz="3200" b="1" dirty="0">
                <a:solidFill>
                  <a:srgbClr val="FFFFFF"/>
                </a:solidFill>
                <a:latin typeface="Georgia" pitchFamily="34" charset="0"/>
                <a:ea typeface="Georgia" pitchFamily="34" charset="-122"/>
                <a:cs typeface="Georgia" pitchFamily="34" charset="-120"/>
              </a:rPr>
              <a:t>HOTEL RESERVATION &amp;</a:t>
            </a:r>
            <a:endParaRPr lang="en-US" sz="3200" dirty="0"/>
          </a:p>
          <a:p>
            <a:pPr algn="ctr" indent="0" marL="0">
              <a:lnSpc>
                <a:spcPct val="110000"/>
              </a:lnSpc>
              <a:buNone/>
            </a:pPr>
            <a:r>
              <a:rPr lang="en-US" sz="3200" b="1" dirty="0">
                <a:solidFill>
                  <a:srgbClr val="FFFFFF"/>
                </a:solidFill>
                <a:latin typeface="Georgia" pitchFamily="34" charset="0"/>
                <a:ea typeface="Georgia" pitchFamily="34" charset="-122"/>
                <a:cs typeface="Georgia" pitchFamily="34" charset="-120"/>
              </a:rPr>
              <a:t>BILLING MANAGEMENT SYSTEM</a:t>
            </a:r>
            <a:endParaRPr lang="en-US" sz="3200" dirty="0"/>
          </a:p>
        </p:txBody>
      </p:sp>
      <p:sp>
        <p:nvSpPr>
          <p:cNvPr id="6" name="Text 3"/>
          <p:cNvSpPr/>
          <p:nvPr/>
        </p:nvSpPr>
        <p:spPr>
          <a:xfrm>
            <a:off x="457200" y="2834640"/>
            <a:ext cx="8229600" cy="457200"/>
          </a:xfrm>
          <a:prstGeom prst="rect">
            <a:avLst/>
          </a:prstGeom>
          <a:noFill/>
          <a:ln/>
        </p:spPr>
        <p:txBody>
          <a:bodyPr wrap="square" rtlCol="0" anchor="ctr"/>
          <a:lstStyle/>
          <a:p>
            <a:pPr algn="ctr" indent="0" marL="0">
              <a:buNone/>
            </a:pPr>
            <a:r>
              <a:rPr lang="en-US" sz="1600" i="1" dirty="0">
                <a:solidFill>
                  <a:srgbClr val="90CAF9"/>
                </a:solidFill>
                <a:latin typeface="Calibri" pitchFamily="34" charset="0"/>
                <a:ea typeface="Calibri" pitchFamily="34" charset="-122"/>
                <a:cs typeface="Calibri" pitchFamily="34" charset="-120"/>
              </a:rPr>
              <a:t>Full Data Pipeline Project Report</a:t>
            </a:r>
            <a:endParaRPr lang="en-US" sz="1600" dirty="0"/>
          </a:p>
        </p:txBody>
      </p:sp>
      <p:sp>
        <p:nvSpPr>
          <p:cNvPr id="7" name="Text 4"/>
          <p:cNvSpPr/>
          <p:nvPr/>
        </p:nvSpPr>
        <p:spPr>
          <a:xfrm>
            <a:off x="457200" y="4160520"/>
            <a:ext cx="822960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Rahma Ahmed  |  Rowan Harpy  |  Rawan Mohamed  |  Gehan Sultan  |  Rehab Moawad  |  Zahraa Moustafa</a:t>
            </a:r>
            <a:endParaRPr lang="en-US" sz="1100" dirty="0"/>
          </a:p>
        </p:txBody>
      </p:sp>
      <p:sp>
        <p:nvSpPr>
          <p:cNvPr id="8" name="Text 5"/>
          <p:cNvSpPr/>
          <p:nvPr/>
        </p:nvSpPr>
        <p:spPr>
          <a:xfrm>
            <a:off x="457200" y="4526280"/>
            <a:ext cx="8229600" cy="320040"/>
          </a:xfrm>
          <a:prstGeom prst="rect">
            <a:avLst/>
          </a:prstGeom>
          <a:noFill/>
          <a:ln/>
        </p:spPr>
        <p:txBody>
          <a:bodyPr wrap="square" rtlCol="0" anchor="ctr"/>
          <a:lstStyle/>
          <a:p>
            <a:pPr algn="ctr" indent="0" marL="0">
              <a:buNone/>
            </a:pPr>
            <a:r>
              <a:rPr lang="en-US" sz="1000" dirty="0">
                <a:solidFill>
                  <a:srgbClr val="90CAF9"/>
                </a:solidFill>
                <a:latin typeface="Calibri" pitchFamily="34" charset="0"/>
                <a:ea typeface="Calibri" pitchFamily="34" charset="-122"/>
                <a:cs typeface="Calibri" pitchFamily="34" charset="-120"/>
              </a:rPr>
              <a:t>SQL Server  |  Python  |  Orange Data Mining  |  Power BI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640080" y="320040"/>
            <a:ext cx="7315200" cy="548640"/>
          </a:xfrm>
          <a:prstGeom prst="rect">
            <a:avLst/>
          </a:prstGeom>
          <a:noFill/>
          <a:ln/>
        </p:spPr>
        <p:txBody>
          <a:bodyPr wrap="square" lIns="0" tIns="0" rIns="0" bIns="0" rtlCol="0" anchor="ctr"/>
          <a:lstStyle/>
          <a:p>
            <a:pPr indent="0" marL="0">
              <a:buNone/>
            </a:pPr>
            <a:r>
              <a:rPr lang="en-US" sz="2800" b="1" dirty="0">
                <a:solidFill>
                  <a:srgbClr val="0B2545"/>
                </a:solidFill>
                <a:latin typeface="Georgia" pitchFamily="34" charset="0"/>
                <a:ea typeface="Georgia" pitchFamily="34" charset="-122"/>
                <a:cs typeface="Georgia" pitchFamily="34" charset="-120"/>
              </a:rPr>
              <a:t>Project Overview</a:t>
            </a:r>
            <a:endParaRPr lang="en-US" sz="2800" dirty="0"/>
          </a:p>
        </p:txBody>
      </p:sp>
      <p:sp>
        <p:nvSpPr>
          <p:cNvPr id="3" name="Shape 1"/>
          <p:cNvSpPr/>
          <p:nvPr/>
        </p:nvSpPr>
        <p:spPr>
          <a:xfrm>
            <a:off x="640080" y="868680"/>
            <a:ext cx="1097280" cy="36576"/>
          </a:xfrm>
          <a:prstGeom prst="rect">
            <a:avLst/>
          </a:prstGeom>
          <a:solidFill>
            <a:srgbClr val="0EA5E9"/>
          </a:solidFill>
          <a:ln/>
        </p:spPr>
      </p:sp>
      <p:sp>
        <p:nvSpPr>
          <p:cNvPr id="4" name="Shape 2"/>
          <p:cNvSpPr/>
          <p:nvPr/>
        </p:nvSpPr>
        <p:spPr>
          <a:xfrm>
            <a:off x="640080" y="1371600"/>
            <a:ext cx="1828800" cy="1463040"/>
          </a:xfrm>
          <a:prstGeom prst="rect">
            <a:avLst/>
          </a:prstGeom>
          <a:solidFill>
            <a:srgbClr val="065A82"/>
          </a:solidFill>
          <a:ln/>
          <a:effectLst>
            <a:outerShdw sx="100000" sy="100000" kx="0" ky="0" algn="bl" rotWithShape="0" blurRad="50800" dist="25400" dir="8100000">
              <a:srgbClr val="000000">
                <a:alpha val="10000"/>
              </a:srgbClr>
            </a:outerShdw>
          </a:effectLst>
        </p:spPr>
      </p:sp>
      <p:pic>
        <p:nvPicPr>
          <p:cNvPr id="5" name="Image 0" descr="preencoded.png">    </p:cNvPr>
          <p:cNvPicPr>
            <a:picLocks noChangeAspect="1"/>
          </p:cNvPicPr>
          <p:nvPr/>
        </p:nvPicPr>
        <p:blipFill>
          <a:blip r:embed="rId1"/>
          <a:stretch>
            <a:fillRect/>
          </a:stretch>
        </p:blipFill>
        <p:spPr>
          <a:xfrm>
            <a:off x="1280160" y="1508760"/>
            <a:ext cx="502920" cy="502920"/>
          </a:xfrm>
          <a:prstGeom prst="rect">
            <a:avLst/>
          </a:prstGeom>
        </p:spPr>
      </p:pic>
      <p:sp>
        <p:nvSpPr>
          <p:cNvPr id="6" name="Text 3"/>
          <p:cNvSpPr/>
          <p:nvPr/>
        </p:nvSpPr>
        <p:spPr>
          <a:xfrm>
            <a:off x="640080" y="2103120"/>
            <a:ext cx="1828800" cy="6400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Database</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Design</a:t>
            </a:r>
            <a:endParaRPr lang="en-US" sz="1200" dirty="0"/>
          </a:p>
        </p:txBody>
      </p:sp>
      <p:sp>
        <p:nvSpPr>
          <p:cNvPr id="7" name="Text 4"/>
          <p:cNvSpPr/>
          <p:nvPr/>
        </p:nvSpPr>
        <p:spPr>
          <a:xfrm>
            <a:off x="2468880" y="1783080"/>
            <a:ext cx="320040" cy="548640"/>
          </a:xfrm>
          <a:prstGeom prst="rect">
            <a:avLst/>
          </a:prstGeom>
          <a:noFill/>
          <a:ln/>
        </p:spPr>
        <p:txBody>
          <a:bodyPr wrap="square" rtlCol="0" anchor="ctr"/>
          <a:lstStyle/>
          <a:p>
            <a:pPr algn="ctr" indent="0" marL="0">
              <a:buNone/>
            </a:pPr>
            <a:r>
              <a:rPr lang="en-US" sz="2000" dirty="0">
                <a:solidFill>
                  <a:srgbClr val="64748B"/>
                </a:solidFill>
              </a:rPr>
              <a:t>▶</a:t>
            </a:r>
            <a:endParaRPr lang="en-US" sz="2000" dirty="0"/>
          </a:p>
        </p:txBody>
      </p:sp>
      <p:sp>
        <p:nvSpPr>
          <p:cNvPr id="8" name="Shape 5"/>
          <p:cNvSpPr/>
          <p:nvPr/>
        </p:nvSpPr>
        <p:spPr>
          <a:xfrm>
            <a:off x="2788920" y="1371600"/>
            <a:ext cx="1828800" cy="1463040"/>
          </a:xfrm>
          <a:prstGeom prst="rect">
            <a:avLst/>
          </a:prstGeom>
          <a:solidFill>
            <a:srgbClr val="1C7293"/>
          </a:solidFill>
          <a:ln/>
          <a:effectLst>
            <a:outerShdw sx="100000" sy="100000" kx="0" ky="0" algn="bl" rotWithShape="0" blurRad="50800" dist="25400" dir="8100000">
              <a:srgbClr val="000000">
                <a:alpha val="10000"/>
              </a:srgbClr>
            </a:outerShdw>
          </a:effectLst>
        </p:spPr>
      </p:sp>
      <p:pic>
        <p:nvPicPr>
          <p:cNvPr id="9" name="Image 1" descr="preencoded.png">    </p:cNvPr>
          <p:cNvPicPr>
            <a:picLocks noChangeAspect="1"/>
          </p:cNvPicPr>
          <p:nvPr/>
        </p:nvPicPr>
        <p:blipFill>
          <a:blip r:embed="rId2"/>
          <a:stretch>
            <a:fillRect/>
          </a:stretch>
        </p:blipFill>
        <p:spPr>
          <a:xfrm>
            <a:off x="3429000" y="1508760"/>
            <a:ext cx="502920" cy="502920"/>
          </a:xfrm>
          <a:prstGeom prst="rect">
            <a:avLst/>
          </a:prstGeom>
        </p:spPr>
      </p:pic>
      <p:sp>
        <p:nvSpPr>
          <p:cNvPr id="10" name="Text 6"/>
          <p:cNvSpPr/>
          <p:nvPr/>
        </p:nvSpPr>
        <p:spPr>
          <a:xfrm>
            <a:off x="2788920" y="2103120"/>
            <a:ext cx="1828800" cy="6400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SQL</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Analysis</a:t>
            </a:r>
            <a:endParaRPr lang="en-US" sz="1200" dirty="0"/>
          </a:p>
        </p:txBody>
      </p:sp>
      <p:sp>
        <p:nvSpPr>
          <p:cNvPr id="11" name="Text 7"/>
          <p:cNvSpPr/>
          <p:nvPr/>
        </p:nvSpPr>
        <p:spPr>
          <a:xfrm>
            <a:off x="4617720" y="1783080"/>
            <a:ext cx="320040" cy="548640"/>
          </a:xfrm>
          <a:prstGeom prst="rect">
            <a:avLst/>
          </a:prstGeom>
          <a:noFill/>
          <a:ln/>
        </p:spPr>
        <p:txBody>
          <a:bodyPr wrap="square" rtlCol="0" anchor="ctr"/>
          <a:lstStyle/>
          <a:p>
            <a:pPr algn="ctr" indent="0" marL="0">
              <a:buNone/>
            </a:pPr>
            <a:r>
              <a:rPr lang="en-US" sz="2000" dirty="0">
                <a:solidFill>
                  <a:srgbClr val="64748B"/>
                </a:solidFill>
              </a:rPr>
              <a:t>▶</a:t>
            </a:r>
            <a:endParaRPr lang="en-US" sz="2000" dirty="0"/>
          </a:p>
        </p:txBody>
      </p:sp>
      <p:sp>
        <p:nvSpPr>
          <p:cNvPr id="12" name="Shape 8"/>
          <p:cNvSpPr/>
          <p:nvPr/>
        </p:nvSpPr>
        <p:spPr>
          <a:xfrm>
            <a:off x="4937760" y="1371600"/>
            <a:ext cx="1828800" cy="1463040"/>
          </a:xfrm>
          <a:prstGeom prst="rect">
            <a:avLst/>
          </a:prstGeom>
          <a:solidFill>
            <a:srgbClr val="0EA5E9"/>
          </a:solidFill>
          <a:ln/>
          <a:effectLst>
            <a:outerShdw sx="100000" sy="100000" kx="0" ky="0" algn="bl" rotWithShape="0" blurRad="50800" dist="25400" dir="8100000">
              <a:srgbClr val="000000">
                <a:alpha val="10000"/>
              </a:srgbClr>
            </a:outerShdw>
          </a:effectLst>
        </p:spPr>
      </p:sp>
      <p:pic>
        <p:nvPicPr>
          <p:cNvPr id="13" name="Image 2" descr="preencoded.png">    </p:cNvPr>
          <p:cNvPicPr>
            <a:picLocks noChangeAspect="1"/>
          </p:cNvPicPr>
          <p:nvPr/>
        </p:nvPicPr>
        <p:blipFill>
          <a:blip r:embed="rId3"/>
          <a:stretch>
            <a:fillRect/>
          </a:stretch>
        </p:blipFill>
        <p:spPr>
          <a:xfrm>
            <a:off x="5577840" y="1508760"/>
            <a:ext cx="502920" cy="502920"/>
          </a:xfrm>
          <a:prstGeom prst="rect">
            <a:avLst/>
          </a:prstGeom>
        </p:spPr>
      </p:pic>
      <p:sp>
        <p:nvSpPr>
          <p:cNvPr id="14" name="Text 9"/>
          <p:cNvSpPr/>
          <p:nvPr/>
        </p:nvSpPr>
        <p:spPr>
          <a:xfrm>
            <a:off x="4937760" y="2103120"/>
            <a:ext cx="1828800" cy="6400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EDA &amp;</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ML</a:t>
            </a:r>
            <a:endParaRPr lang="en-US" sz="1200" dirty="0"/>
          </a:p>
        </p:txBody>
      </p:sp>
      <p:sp>
        <p:nvSpPr>
          <p:cNvPr id="15" name="Text 10"/>
          <p:cNvSpPr/>
          <p:nvPr/>
        </p:nvSpPr>
        <p:spPr>
          <a:xfrm>
            <a:off x="6766560" y="1783080"/>
            <a:ext cx="320040" cy="548640"/>
          </a:xfrm>
          <a:prstGeom prst="rect">
            <a:avLst/>
          </a:prstGeom>
          <a:noFill/>
          <a:ln/>
        </p:spPr>
        <p:txBody>
          <a:bodyPr wrap="square" rtlCol="0" anchor="ctr"/>
          <a:lstStyle/>
          <a:p>
            <a:pPr algn="ctr" indent="0" marL="0">
              <a:buNone/>
            </a:pPr>
            <a:r>
              <a:rPr lang="en-US" sz="2000" dirty="0">
                <a:solidFill>
                  <a:srgbClr val="64748B"/>
                </a:solidFill>
              </a:rPr>
              <a:t>▶</a:t>
            </a:r>
            <a:endParaRPr lang="en-US" sz="2000" dirty="0"/>
          </a:p>
        </p:txBody>
      </p:sp>
      <p:sp>
        <p:nvSpPr>
          <p:cNvPr id="16" name="Shape 11"/>
          <p:cNvSpPr/>
          <p:nvPr/>
        </p:nvSpPr>
        <p:spPr>
          <a:xfrm>
            <a:off x="7086600" y="1371600"/>
            <a:ext cx="1828800" cy="1463040"/>
          </a:xfrm>
          <a:prstGeom prst="rect">
            <a:avLst/>
          </a:prstGeom>
          <a:solidFill>
            <a:srgbClr val="10B981"/>
          </a:solidFill>
          <a:ln/>
          <a:effectLst>
            <a:outerShdw sx="100000" sy="100000" kx="0" ky="0" algn="bl" rotWithShape="0" blurRad="50800" dist="25400" dir="8100000">
              <a:srgbClr val="000000">
                <a:alpha val="10000"/>
              </a:srgbClr>
            </a:outerShdw>
          </a:effectLst>
        </p:spPr>
      </p:sp>
      <p:pic>
        <p:nvPicPr>
          <p:cNvPr id="17" name="Image 3" descr="preencoded.png">    </p:cNvPr>
          <p:cNvPicPr>
            <a:picLocks noChangeAspect="1"/>
          </p:cNvPicPr>
          <p:nvPr/>
        </p:nvPicPr>
        <p:blipFill>
          <a:blip r:embed="rId4"/>
          <a:stretch>
            <a:fillRect/>
          </a:stretch>
        </p:blipFill>
        <p:spPr>
          <a:xfrm>
            <a:off x="7726680" y="1508760"/>
            <a:ext cx="502920" cy="502920"/>
          </a:xfrm>
          <a:prstGeom prst="rect">
            <a:avLst/>
          </a:prstGeom>
        </p:spPr>
      </p:pic>
      <p:sp>
        <p:nvSpPr>
          <p:cNvPr id="18" name="Text 12"/>
          <p:cNvSpPr/>
          <p:nvPr/>
        </p:nvSpPr>
        <p:spPr>
          <a:xfrm>
            <a:off x="7086600" y="2103120"/>
            <a:ext cx="1828800" cy="6400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Power BI</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Dashboard</a:t>
            </a:r>
            <a:endParaRPr lang="en-US" sz="1200" dirty="0"/>
          </a:p>
        </p:txBody>
      </p:sp>
      <p:sp>
        <p:nvSpPr>
          <p:cNvPr id="19" name="Text 13"/>
          <p:cNvSpPr/>
          <p:nvPr/>
        </p:nvSpPr>
        <p:spPr>
          <a:xfrm>
            <a:off x="640080" y="3154680"/>
            <a:ext cx="7863840" cy="1554480"/>
          </a:xfrm>
          <a:prstGeom prst="rect">
            <a:avLst/>
          </a:prstGeom>
          <a:noFill/>
          <a:ln/>
        </p:spPr>
        <p:txBody>
          <a:bodyPr wrap="square" rtlCol="0" anchor="ctr"/>
          <a:lstStyle/>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Digitize and streamline all core hotel operations</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75+ reservations  |  30 guests  |  30 rooms  |  13 entities</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Covers full lifecycle: booking → check-in → services → billing → review</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Tools: SQL Server, Python (Jupyter), Orange Data Mining, Power BI</a:t>
            </a:r>
            <a:endParaRPr lang="en-US" sz="1300" dirty="0"/>
          </a:p>
        </p:txBody>
      </p:sp>
      <p:sp>
        <p:nvSpPr>
          <p:cNvPr id="20" name="Shape 14"/>
          <p:cNvSpPr/>
          <p:nvPr/>
        </p:nvSpPr>
        <p:spPr>
          <a:xfrm>
            <a:off x="0" y="4754880"/>
            <a:ext cx="9144000" cy="388620"/>
          </a:xfrm>
          <a:prstGeom prst="rect">
            <a:avLst/>
          </a:prstGeom>
          <a:solidFill>
            <a:srgbClr val="0B2545"/>
          </a:solidFill>
          <a:ln/>
        </p:spPr>
      </p:sp>
      <p:sp>
        <p:nvSpPr>
          <p:cNvPr id="21" name="Text 15"/>
          <p:cNvSpPr/>
          <p:nvPr/>
        </p:nvSpPr>
        <p:spPr>
          <a:xfrm>
            <a:off x="457200" y="4773168"/>
            <a:ext cx="8229600" cy="36576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Hotel Reservation &amp; Billing Management System</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640080" y="320040"/>
            <a:ext cx="7315200" cy="548640"/>
          </a:xfrm>
          <a:prstGeom prst="rect">
            <a:avLst/>
          </a:prstGeom>
          <a:noFill/>
          <a:ln/>
        </p:spPr>
        <p:txBody>
          <a:bodyPr wrap="square" lIns="0" tIns="0" rIns="0" bIns="0" rtlCol="0" anchor="ctr"/>
          <a:lstStyle/>
          <a:p>
            <a:pPr indent="0" marL="0">
              <a:buNone/>
            </a:pPr>
            <a:r>
              <a:rPr lang="en-US" sz="2800" b="1" dirty="0">
                <a:solidFill>
                  <a:srgbClr val="0B2545"/>
                </a:solidFill>
                <a:latin typeface="Georgia" pitchFamily="34" charset="0"/>
                <a:ea typeface="Georgia" pitchFamily="34" charset="-122"/>
                <a:cs typeface="Georgia" pitchFamily="34" charset="-120"/>
              </a:rPr>
              <a:t>Problem Statement</a:t>
            </a:r>
            <a:endParaRPr lang="en-US" sz="2800" dirty="0"/>
          </a:p>
        </p:txBody>
      </p:sp>
      <p:sp>
        <p:nvSpPr>
          <p:cNvPr id="3" name="Shape 1"/>
          <p:cNvSpPr/>
          <p:nvPr/>
        </p:nvSpPr>
        <p:spPr>
          <a:xfrm>
            <a:off x="640080" y="868680"/>
            <a:ext cx="1097280" cy="36576"/>
          </a:xfrm>
          <a:prstGeom prst="rect">
            <a:avLst/>
          </a:prstGeom>
          <a:solidFill>
            <a:srgbClr val="0EA5E9"/>
          </a:solidFill>
          <a:ln/>
        </p:spPr>
      </p:sp>
      <p:sp>
        <p:nvSpPr>
          <p:cNvPr id="4" name="Shape 2"/>
          <p:cNvSpPr/>
          <p:nvPr/>
        </p:nvSpPr>
        <p:spPr>
          <a:xfrm>
            <a:off x="640080" y="1188720"/>
            <a:ext cx="7863840" cy="7315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5" name="Shape 3"/>
          <p:cNvSpPr/>
          <p:nvPr/>
        </p:nvSpPr>
        <p:spPr>
          <a:xfrm>
            <a:off x="640080" y="1188720"/>
            <a:ext cx="64008" cy="731520"/>
          </a:xfrm>
          <a:prstGeom prst="rect">
            <a:avLst/>
          </a:prstGeom>
          <a:solidFill>
            <a:srgbClr val="EF4444"/>
          </a:solidFill>
          <a:ln/>
        </p:spPr>
      </p:sp>
      <p:sp>
        <p:nvSpPr>
          <p:cNvPr id="6" name="Text 4"/>
          <p:cNvSpPr/>
          <p:nvPr/>
        </p:nvSpPr>
        <p:spPr>
          <a:xfrm>
            <a:off x="1005840" y="1234440"/>
            <a:ext cx="3200400" cy="32004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Manual Operations</a:t>
            </a:r>
            <a:endParaRPr lang="en-US" sz="1400" dirty="0"/>
          </a:p>
        </p:txBody>
      </p:sp>
      <p:sp>
        <p:nvSpPr>
          <p:cNvPr id="7" name="Text 5"/>
          <p:cNvSpPr/>
          <p:nvPr/>
        </p:nvSpPr>
        <p:spPr>
          <a:xfrm>
            <a:off x="1005840" y="1536192"/>
            <a:ext cx="7132320"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Hotels generate massive data — manually managing it leads to errors</a:t>
            </a:r>
            <a:endParaRPr lang="en-US" sz="1200" dirty="0"/>
          </a:p>
        </p:txBody>
      </p:sp>
      <p:sp>
        <p:nvSpPr>
          <p:cNvPr id="8" name="Shape 6"/>
          <p:cNvSpPr/>
          <p:nvPr/>
        </p:nvSpPr>
        <p:spPr>
          <a:xfrm>
            <a:off x="640080" y="2057400"/>
            <a:ext cx="7863840" cy="7315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9" name="Shape 7"/>
          <p:cNvSpPr/>
          <p:nvPr/>
        </p:nvSpPr>
        <p:spPr>
          <a:xfrm>
            <a:off x="640080" y="2057400"/>
            <a:ext cx="64008" cy="731520"/>
          </a:xfrm>
          <a:prstGeom prst="rect">
            <a:avLst/>
          </a:prstGeom>
          <a:solidFill>
            <a:srgbClr val="EF4444"/>
          </a:solidFill>
          <a:ln/>
        </p:spPr>
      </p:sp>
      <p:sp>
        <p:nvSpPr>
          <p:cNvPr id="10" name="Text 8"/>
          <p:cNvSpPr/>
          <p:nvPr/>
        </p:nvSpPr>
        <p:spPr>
          <a:xfrm>
            <a:off x="1005840" y="2103120"/>
            <a:ext cx="3200400" cy="32004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Revenue Leakage</a:t>
            </a:r>
            <a:endParaRPr lang="en-US" sz="1400" dirty="0"/>
          </a:p>
        </p:txBody>
      </p:sp>
      <p:sp>
        <p:nvSpPr>
          <p:cNvPr id="11" name="Text 9"/>
          <p:cNvSpPr/>
          <p:nvPr/>
        </p:nvSpPr>
        <p:spPr>
          <a:xfrm>
            <a:off x="1005840" y="2404872"/>
            <a:ext cx="7132320"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Without structured tracking, payments and services go unrecorded</a:t>
            </a:r>
            <a:endParaRPr lang="en-US" sz="1200" dirty="0"/>
          </a:p>
        </p:txBody>
      </p:sp>
      <p:sp>
        <p:nvSpPr>
          <p:cNvPr id="12" name="Shape 10"/>
          <p:cNvSpPr/>
          <p:nvPr/>
        </p:nvSpPr>
        <p:spPr>
          <a:xfrm>
            <a:off x="640080" y="2926080"/>
            <a:ext cx="7863840" cy="7315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3" name="Shape 11"/>
          <p:cNvSpPr/>
          <p:nvPr/>
        </p:nvSpPr>
        <p:spPr>
          <a:xfrm>
            <a:off x="640080" y="2926080"/>
            <a:ext cx="64008" cy="731520"/>
          </a:xfrm>
          <a:prstGeom prst="rect">
            <a:avLst/>
          </a:prstGeom>
          <a:solidFill>
            <a:srgbClr val="EF4444"/>
          </a:solidFill>
          <a:ln/>
        </p:spPr>
      </p:sp>
      <p:sp>
        <p:nvSpPr>
          <p:cNvPr id="14" name="Text 12"/>
          <p:cNvSpPr/>
          <p:nvPr/>
        </p:nvSpPr>
        <p:spPr>
          <a:xfrm>
            <a:off x="1005840" y="2971800"/>
            <a:ext cx="3200400" cy="32004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Poor Guest Experience</a:t>
            </a:r>
            <a:endParaRPr lang="en-US" sz="1400" dirty="0"/>
          </a:p>
        </p:txBody>
      </p:sp>
      <p:sp>
        <p:nvSpPr>
          <p:cNvPr id="15" name="Text 13"/>
          <p:cNvSpPr/>
          <p:nvPr/>
        </p:nvSpPr>
        <p:spPr>
          <a:xfrm>
            <a:off x="1005840" y="3273552"/>
            <a:ext cx="7132320"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No centralized system for preferences, loyalty, or reviews</a:t>
            </a:r>
            <a:endParaRPr lang="en-US" sz="1200" dirty="0"/>
          </a:p>
        </p:txBody>
      </p:sp>
      <p:sp>
        <p:nvSpPr>
          <p:cNvPr id="16" name="Shape 14"/>
          <p:cNvSpPr/>
          <p:nvPr/>
        </p:nvSpPr>
        <p:spPr>
          <a:xfrm>
            <a:off x="640080" y="3794760"/>
            <a:ext cx="7863840" cy="7315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7" name="Shape 15"/>
          <p:cNvSpPr/>
          <p:nvPr/>
        </p:nvSpPr>
        <p:spPr>
          <a:xfrm>
            <a:off x="640080" y="3794760"/>
            <a:ext cx="64008" cy="731520"/>
          </a:xfrm>
          <a:prstGeom prst="rect">
            <a:avLst/>
          </a:prstGeom>
          <a:solidFill>
            <a:srgbClr val="EF4444"/>
          </a:solidFill>
          <a:ln/>
        </p:spPr>
      </p:sp>
      <p:sp>
        <p:nvSpPr>
          <p:cNvPr id="18" name="Text 16"/>
          <p:cNvSpPr/>
          <p:nvPr/>
        </p:nvSpPr>
        <p:spPr>
          <a:xfrm>
            <a:off x="1005840" y="3840480"/>
            <a:ext cx="3200400" cy="32004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No Predictive Power</a:t>
            </a:r>
            <a:endParaRPr lang="en-US" sz="1400" dirty="0"/>
          </a:p>
        </p:txBody>
      </p:sp>
      <p:sp>
        <p:nvSpPr>
          <p:cNvPr id="19" name="Text 17"/>
          <p:cNvSpPr/>
          <p:nvPr/>
        </p:nvSpPr>
        <p:spPr>
          <a:xfrm>
            <a:off x="1005840" y="4142232"/>
            <a:ext cx="7132320"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Cannot forecast cancellations, no-shows, or demand patterns</a:t>
            </a:r>
            <a:endParaRPr lang="en-US" sz="1200" dirty="0"/>
          </a:p>
        </p:txBody>
      </p:sp>
      <p:sp>
        <p:nvSpPr>
          <p:cNvPr id="20" name="Shape 18"/>
          <p:cNvSpPr/>
          <p:nvPr/>
        </p:nvSpPr>
        <p:spPr>
          <a:xfrm>
            <a:off x="0" y="4754880"/>
            <a:ext cx="9144000" cy="388620"/>
          </a:xfrm>
          <a:prstGeom prst="rect">
            <a:avLst/>
          </a:prstGeom>
          <a:solidFill>
            <a:srgbClr val="0B2545"/>
          </a:solidFill>
          <a:ln/>
        </p:spPr>
      </p:sp>
      <p:sp>
        <p:nvSpPr>
          <p:cNvPr id="21" name="Text 19"/>
          <p:cNvSpPr/>
          <p:nvPr/>
        </p:nvSpPr>
        <p:spPr>
          <a:xfrm>
            <a:off x="457200" y="4773168"/>
            <a:ext cx="8229600" cy="36576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Hotel Reservation &amp; Billing Management System</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640080" y="320040"/>
            <a:ext cx="7315200" cy="548640"/>
          </a:xfrm>
          <a:prstGeom prst="rect">
            <a:avLst/>
          </a:prstGeom>
          <a:noFill/>
          <a:ln/>
        </p:spPr>
        <p:txBody>
          <a:bodyPr wrap="square" lIns="0" tIns="0" rIns="0" bIns="0" rtlCol="0" anchor="ctr"/>
          <a:lstStyle/>
          <a:p>
            <a:pPr indent="0" marL="0">
              <a:buNone/>
            </a:pPr>
            <a:r>
              <a:rPr lang="en-US" sz="2800" b="1" dirty="0">
                <a:solidFill>
                  <a:srgbClr val="0B2545"/>
                </a:solidFill>
                <a:latin typeface="Georgia" pitchFamily="34" charset="0"/>
                <a:ea typeface="Georgia" pitchFamily="34" charset="-122"/>
                <a:cs typeface="Georgia" pitchFamily="34" charset="-120"/>
              </a:rPr>
              <a:t>Objectives</a:t>
            </a:r>
            <a:endParaRPr lang="en-US" sz="2800" dirty="0"/>
          </a:p>
        </p:txBody>
      </p:sp>
      <p:sp>
        <p:nvSpPr>
          <p:cNvPr id="3" name="Shape 1"/>
          <p:cNvSpPr/>
          <p:nvPr/>
        </p:nvSpPr>
        <p:spPr>
          <a:xfrm>
            <a:off x="640080" y="868680"/>
            <a:ext cx="1097280" cy="36576"/>
          </a:xfrm>
          <a:prstGeom prst="rect">
            <a:avLst/>
          </a:prstGeom>
          <a:solidFill>
            <a:srgbClr val="0EA5E9"/>
          </a:solidFill>
          <a:ln/>
        </p:spPr>
      </p:sp>
      <p:sp>
        <p:nvSpPr>
          <p:cNvPr id="4" name="Shape 2"/>
          <p:cNvSpPr/>
          <p:nvPr/>
        </p:nvSpPr>
        <p:spPr>
          <a:xfrm>
            <a:off x="868680" y="1252728"/>
            <a:ext cx="256032" cy="256032"/>
          </a:xfrm>
          <a:prstGeom prst="rect">
            <a:avLst/>
          </a:prstGeom>
          <a:solidFill>
            <a:srgbClr val="065A82"/>
          </a:solidFill>
          <a:ln/>
        </p:spPr>
      </p:sp>
      <p:sp>
        <p:nvSpPr>
          <p:cNvPr id="5" name="Text 3"/>
          <p:cNvSpPr/>
          <p:nvPr/>
        </p:nvSpPr>
        <p:spPr>
          <a:xfrm>
            <a:off x="868680" y="1252728"/>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 name="Text 4"/>
          <p:cNvSpPr/>
          <p:nvPr/>
        </p:nvSpPr>
        <p:spPr>
          <a:xfrm>
            <a:off x="1371600" y="1188720"/>
            <a:ext cx="7132320" cy="4572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Design a fully normalized relational database (3NF) with 13 entities</a:t>
            </a:r>
            <a:endParaRPr lang="en-US" sz="1300" dirty="0"/>
          </a:p>
        </p:txBody>
      </p:sp>
      <p:sp>
        <p:nvSpPr>
          <p:cNvPr id="7" name="Shape 5"/>
          <p:cNvSpPr/>
          <p:nvPr/>
        </p:nvSpPr>
        <p:spPr>
          <a:xfrm>
            <a:off x="868680" y="1819656"/>
            <a:ext cx="256032" cy="256032"/>
          </a:xfrm>
          <a:prstGeom prst="rect">
            <a:avLst/>
          </a:prstGeom>
          <a:solidFill>
            <a:srgbClr val="065A82"/>
          </a:solidFill>
          <a:ln/>
        </p:spPr>
      </p:sp>
      <p:sp>
        <p:nvSpPr>
          <p:cNvPr id="8" name="Text 6"/>
          <p:cNvSpPr/>
          <p:nvPr/>
        </p:nvSpPr>
        <p:spPr>
          <a:xfrm>
            <a:off x="868680" y="1819656"/>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9" name="Text 7"/>
          <p:cNvSpPr/>
          <p:nvPr/>
        </p:nvSpPr>
        <p:spPr>
          <a:xfrm>
            <a:off x="1371600" y="1755648"/>
            <a:ext cx="7132320" cy="4572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Implement in SQL Server with constraints, keys, and relationships</a:t>
            </a:r>
            <a:endParaRPr lang="en-US" sz="1300" dirty="0"/>
          </a:p>
        </p:txBody>
      </p:sp>
      <p:sp>
        <p:nvSpPr>
          <p:cNvPr id="10" name="Shape 8"/>
          <p:cNvSpPr/>
          <p:nvPr/>
        </p:nvSpPr>
        <p:spPr>
          <a:xfrm>
            <a:off x="868680" y="2386584"/>
            <a:ext cx="256032" cy="256032"/>
          </a:xfrm>
          <a:prstGeom prst="rect">
            <a:avLst/>
          </a:prstGeom>
          <a:solidFill>
            <a:srgbClr val="065A82"/>
          </a:solidFill>
          <a:ln/>
        </p:spPr>
      </p:sp>
      <p:sp>
        <p:nvSpPr>
          <p:cNvPr id="11" name="Text 9"/>
          <p:cNvSpPr/>
          <p:nvPr/>
        </p:nvSpPr>
        <p:spPr>
          <a:xfrm>
            <a:off x="868680" y="2386584"/>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2" name="Text 10"/>
          <p:cNvSpPr/>
          <p:nvPr/>
        </p:nvSpPr>
        <p:spPr>
          <a:xfrm>
            <a:off x="1371600" y="2322576"/>
            <a:ext cx="7132320" cy="4572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Write advanced SQL queries (views, CTEs, window functions)</a:t>
            </a:r>
            <a:endParaRPr lang="en-US" sz="1300" dirty="0"/>
          </a:p>
        </p:txBody>
      </p:sp>
      <p:sp>
        <p:nvSpPr>
          <p:cNvPr id="13" name="Shape 11"/>
          <p:cNvSpPr/>
          <p:nvPr/>
        </p:nvSpPr>
        <p:spPr>
          <a:xfrm>
            <a:off x="868680" y="2953512"/>
            <a:ext cx="256032" cy="256032"/>
          </a:xfrm>
          <a:prstGeom prst="rect">
            <a:avLst/>
          </a:prstGeom>
          <a:solidFill>
            <a:srgbClr val="065A82"/>
          </a:solidFill>
          <a:ln/>
        </p:spPr>
      </p:sp>
      <p:sp>
        <p:nvSpPr>
          <p:cNvPr id="14" name="Text 12"/>
          <p:cNvSpPr/>
          <p:nvPr/>
        </p:nvSpPr>
        <p:spPr>
          <a:xfrm>
            <a:off x="868680" y="2953512"/>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5" name="Text 13"/>
          <p:cNvSpPr/>
          <p:nvPr/>
        </p:nvSpPr>
        <p:spPr>
          <a:xfrm>
            <a:off x="1371600" y="2889504"/>
            <a:ext cx="7132320" cy="4572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Perform EDA using Python to uncover booking patterns</a:t>
            </a:r>
            <a:endParaRPr lang="en-US" sz="1300" dirty="0"/>
          </a:p>
        </p:txBody>
      </p:sp>
      <p:sp>
        <p:nvSpPr>
          <p:cNvPr id="16" name="Shape 14"/>
          <p:cNvSpPr/>
          <p:nvPr/>
        </p:nvSpPr>
        <p:spPr>
          <a:xfrm>
            <a:off x="868680" y="3520440"/>
            <a:ext cx="256032" cy="256032"/>
          </a:xfrm>
          <a:prstGeom prst="rect">
            <a:avLst/>
          </a:prstGeom>
          <a:solidFill>
            <a:srgbClr val="065A82"/>
          </a:solidFill>
          <a:ln/>
        </p:spPr>
      </p:sp>
      <p:sp>
        <p:nvSpPr>
          <p:cNvPr id="17" name="Text 15"/>
          <p:cNvSpPr/>
          <p:nvPr/>
        </p:nvSpPr>
        <p:spPr>
          <a:xfrm>
            <a:off x="868680" y="3520440"/>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8" name="Text 16"/>
          <p:cNvSpPr/>
          <p:nvPr/>
        </p:nvSpPr>
        <p:spPr>
          <a:xfrm>
            <a:off x="1371600" y="3456432"/>
            <a:ext cx="7132320" cy="4572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Build ML models in Orange to predict reservation outcomes</a:t>
            </a:r>
            <a:endParaRPr lang="en-US" sz="1300" dirty="0"/>
          </a:p>
        </p:txBody>
      </p:sp>
      <p:sp>
        <p:nvSpPr>
          <p:cNvPr id="19" name="Shape 17"/>
          <p:cNvSpPr/>
          <p:nvPr/>
        </p:nvSpPr>
        <p:spPr>
          <a:xfrm>
            <a:off x="868680" y="4087368"/>
            <a:ext cx="256032" cy="256032"/>
          </a:xfrm>
          <a:prstGeom prst="rect">
            <a:avLst/>
          </a:prstGeom>
          <a:solidFill>
            <a:srgbClr val="065A82"/>
          </a:solidFill>
          <a:ln/>
        </p:spPr>
      </p:sp>
      <p:sp>
        <p:nvSpPr>
          <p:cNvPr id="20" name="Text 18"/>
          <p:cNvSpPr/>
          <p:nvPr/>
        </p:nvSpPr>
        <p:spPr>
          <a:xfrm>
            <a:off x="868680" y="4087368"/>
            <a:ext cx="256032" cy="25603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1" name="Text 19"/>
          <p:cNvSpPr/>
          <p:nvPr/>
        </p:nvSpPr>
        <p:spPr>
          <a:xfrm>
            <a:off x="1371600" y="4023360"/>
            <a:ext cx="7132320" cy="4572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Create interactive Power BI dashboard for KPI tracking</a:t>
            </a:r>
            <a:endParaRPr lang="en-US" sz="1300" dirty="0"/>
          </a:p>
        </p:txBody>
      </p:sp>
      <p:sp>
        <p:nvSpPr>
          <p:cNvPr id="22" name="Shape 20"/>
          <p:cNvSpPr/>
          <p:nvPr/>
        </p:nvSpPr>
        <p:spPr>
          <a:xfrm>
            <a:off x="0" y="4754880"/>
            <a:ext cx="9144000" cy="388620"/>
          </a:xfrm>
          <a:prstGeom prst="rect">
            <a:avLst/>
          </a:prstGeom>
          <a:solidFill>
            <a:srgbClr val="0B2545"/>
          </a:solidFill>
          <a:ln/>
        </p:spPr>
      </p:sp>
      <p:sp>
        <p:nvSpPr>
          <p:cNvPr id="23" name="Text 21"/>
          <p:cNvSpPr/>
          <p:nvPr/>
        </p:nvSpPr>
        <p:spPr>
          <a:xfrm>
            <a:off x="457200" y="4773168"/>
            <a:ext cx="8229600" cy="36576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Hotel Reservation &amp; Billing Management System</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640080" y="320040"/>
            <a:ext cx="7315200" cy="548640"/>
          </a:xfrm>
          <a:prstGeom prst="rect">
            <a:avLst/>
          </a:prstGeom>
          <a:noFill/>
          <a:ln/>
        </p:spPr>
        <p:txBody>
          <a:bodyPr wrap="square" lIns="0" tIns="0" rIns="0" bIns="0" rtlCol="0" anchor="ctr"/>
          <a:lstStyle/>
          <a:p>
            <a:pPr indent="0" marL="0">
              <a:buNone/>
            </a:pPr>
            <a:r>
              <a:rPr lang="en-US" sz="2800" b="1" dirty="0">
                <a:solidFill>
                  <a:srgbClr val="0B2545"/>
                </a:solidFill>
                <a:latin typeface="Georgia" pitchFamily="34" charset="0"/>
                <a:ea typeface="Georgia" pitchFamily="34" charset="-122"/>
                <a:cs typeface="Georgia" pitchFamily="34" charset="-120"/>
              </a:rPr>
              <a:t>Dataset Description</a:t>
            </a:r>
            <a:endParaRPr lang="en-US" sz="2800" dirty="0"/>
          </a:p>
        </p:txBody>
      </p:sp>
      <p:sp>
        <p:nvSpPr>
          <p:cNvPr id="3" name="Shape 1"/>
          <p:cNvSpPr/>
          <p:nvPr/>
        </p:nvSpPr>
        <p:spPr>
          <a:xfrm>
            <a:off x="640080" y="868680"/>
            <a:ext cx="1097280" cy="36576"/>
          </a:xfrm>
          <a:prstGeom prst="rect">
            <a:avLst/>
          </a:prstGeom>
          <a:solidFill>
            <a:srgbClr val="0EA5E9"/>
          </a:solidFill>
          <a:ln/>
        </p:spPr>
      </p:sp>
      <p:sp>
        <p:nvSpPr>
          <p:cNvPr id="4" name="Shape 2"/>
          <p:cNvSpPr/>
          <p:nvPr/>
        </p:nvSpPr>
        <p:spPr>
          <a:xfrm>
            <a:off x="640080" y="1097280"/>
            <a:ext cx="1828800" cy="10058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5" name="Shape 3"/>
          <p:cNvSpPr/>
          <p:nvPr/>
        </p:nvSpPr>
        <p:spPr>
          <a:xfrm>
            <a:off x="640080" y="1097280"/>
            <a:ext cx="1828800" cy="54864"/>
          </a:xfrm>
          <a:prstGeom prst="rect">
            <a:avLst/>
          </a:prstGeom>
          <a:solidFill>
            <a:srgbClr val="065A82"/>
          </a:solidFill>
          <a:ln/>
        </p:spPr>
      </p:sp>
      <p:sp>
        <p:nvSpPr>
          <p:cNvPr id="6" name="Text 4"/>
          <p:cNvSpPr/>
          <p:nvPr/>
        </p:nvSpPr>
        <p:spPr>
          <a:xfrm>
            <a:off x="640080" y="1234440"/>
            <a:ext cx="1828800" cy="457200"/>
          </a:xfrm>
          <a:prstGeom prst="rect">
            <a:avLst/>
          </a:prstGeom>
          <a:noFill/>
          <a:ln/>
        </p:spPr>
        <p:txBody>
          <a:bodyPr wrap="square" lIns="0" tIns="0" rIns="0" bIns="0" rtlCol="0" anchor="ctr"/>
          <a:lstStyle/>
          <a:p>
            <a:pPr algn="ctr" indent="0" marL="0">
              <a:buNone/>
            </a:pPr>
            <a:r>
              <a:rPr lang="en-US" sz="2800" b="1" dirty="0">
                <a:solidFill>
                  <a:srgbClr val="065A82"/>
                </a:solidFill>
                <a:latin typeface="Georgia" pitchFamily="34" charset="0"/>
                <a:ea typeface="Georgia" pitchFamily="34" charset="-122"/>
                <a:cs typeface="Georgia" pitchFamily="34" charset="-120"/>
              </a:rPr>
              <a:t>75+</a:t>
            </a:r>
            <a:endParaRPr lang="en-US" sz="2800" dirty="0"/>
          </a:p>
        </p:txBody>
      </p:sp>
      <p:sp>
        <p:nvSpPr>
          <p:cNvPr id="7" name="Text 5"/>
          <p:cNvSpPr/>
          <p:nvPr/>
        </p:nvSpPr>
        <p:spPr>
          <a:xfrm>
            <a:off x="640080" y="1691640"/>
            <a:ext cx="1828800" cy="32004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Reservations</a:t>
            </a:r>
            <a:endParaRPr lang="en-US" sz="1100" dirty="0"/>
          </a:p>
        </p:txBody>
      </p:sp>
      <p:sp>
        <p:nvSpPr>
          <p:cNvPr id="8" name="Shape 6"/>
          <p:cNvSpPr/>
          <p:nvPr/>
        </p:nvSpPr>
        <p:spPr>
          <a:xfrm>
            <a:off x="2788920" y="1097280"/>
            <a:ext cx="1828800" cy="10058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9" name="Shape 7"/>
          <p:cNvSpPr/>
          <p:nvPr/>
        </p:nvSpPr>
        <p:spPr>
          <a:xfrm>
            <a:off x="2788920" y="1097280"/>
            <a:ext cx="1828800" cy="54864"/>
          </a:xfrm>
          <a:prstGeom prst="rect">
            <a:avLst/>
          </a:prstGeom>
          <a:solidFill>
            <a:srgbClr val="1C7293"/>
          </a:solidFill>
          <a:ln/>
        </p:spPr>
      </p:sp>
      <p:sp>
        <p:nvSpPr>
          <p:cNvPr id="10" name="Text 8"/>
          <p:cNvSpPr/>
          <p:nvPr/>
        </p:nvSpPr>
        <p:spPr>
          <a:xfrm>
            <a:off x="2788920" y="1234440"/>
            <a:ext cx="1828800" cy="457200"/>
          </a:xfrm>
          <a:prstGeom prst="rect">
            <a:avLst/>
          </a:prstGeom>
          <a:noFill/>
          <a:ln/>
        </p:spPr>
        <p:txBody>
          <a:bodyPr wrap="square" lIns="0" tIns="0" rIns="0" bIns="0" rtlCol="0" anchor="ctr"/>
          <a:lstStyle/>
          <a:p>
            <a:pPr algn="ctr" indent="0" marL="0">
              <a:buNone/>
            </a:pPr>
            <a:r>
              <a:rPr lang="en-US" sz="2800" b="1" dirty="0">
                <a:solidFill>
                  <a:srgbClr val="1C7293"/>
                </a:solidFill>
                <a:latin typeface="Georgia" pitchFamily="34" charset="0"/>
                <a:ea typeface="Georgia" pitchFamily="34" charset="-122"/>
                <a:cs typeface="Georgia" pitchFamily="34" charset="-120"/>
              </a:rPr>
              <a:t>30</a:t>
            </a:r>
            <a:endParaRPr lang="en-US" sz="2800" dirty="0"/>
          </a:p>
        </p:txBody>
      </p:sp>
      <p:sp>
        <p:nvSpPr>
          <p:cNvPr id="11" name="Text 9"/>
          <p:cNvSpPr/>
          <p:nvPr/>
        </p:nvSpPr>
        <p:spPr>
          <a:xfrm>
            <a:off x="2788920" y="1691640"/>
            <a:ext cx="1828800" cy="32004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Guests</a:t>
            </a:r>
            <a:endParaRPr lang="en-US" sz="1100" dirty="0"/>
          </a:p>
        </p:txBody>
      </p:sp>
      <p:sp>
        <p:nvSpPr>
          <p:cNvPr id="12" name="Shape 10"/>
          <p:cNvSpPr/>
          <p:nvPr/>
        </p:nvSpPr>
        <p:spPr>
          <a:xfrm>
            <a:off x="4937760" y="1097280"/>
            <a:ext cx="1828800" cy="10058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3" name="Shape 11"/>
          <p:cNvSpPr/>
          <p:nvPr/>
        </p:nvSpPr>
        <p:spPr>
          <a:xfrm>
            <a:off x="4937760" y="1097280"/>
            <a:ext cx="1828800" cy="54864"/>
          </a:xfrm>
          <a:prstGeom prst="rect">
            <a:avLst/>
          </a:prstGeom>
          <a:solidFill>
            <a:srgbClr val="0EA5E9"/>
          </a:solidFill>
          <a:ln/>
        </p:spPr>
      </p:sp>
      <p:sp>
        <p:nvSpPr>
          <p:cNvPr id="14" name="Text 12"/>
          <p:cNvSpPr/>
          <p:nvPr/>
        </p:nvSpPr>
        <p:spPr>
          <a:xfrm>
            <a:off x="4937760" y="1234440"/>
            <a:ext cx="1828800" cy="457200"/>
          </a:xfrm>
          <a:prstGeom prst="rect">
            <a:avLst/>
          </a:prstGeom>
          <a:noFill/>
          <a:ln/>
        </p:spPr>
        <p:txBody>
          <a:bodyPr wrap="square" lIns="0" tIns="0" rIns="0" bIns="0" rtlCol="0" anchor="ctr"/>
          <a:lstStyle/>
          <a:p>
            <a:pPr algn="ctr" indent="0" marL="0">
              <a:buNone/>
            </a:pPr>
            <a:r>
              <a:rPr lang="en-US" sz="2800" b="1" dirty="0">
                <a:solidFill>
                  <a:srgbClr val="0EA5E9"/>
                </a:solidFill>
                <a:latin typeface="Georgia" pitchFamily="34" charset="0"/>
                <a:ea typeface="Georgia" pitchFamily="34" charset="-122"/>
                <a:cs typeface="Georgia" pitchFamily="34" charset="-120"/>
              </a:rPr>
              <a:t>20+</a:t>
            </a:r>
            <a:endParaRPr lang="en-US" sz="2800" dirty="0"/>
          </a:p>
        </p:txBody>
      </p:sp>
      <p:sp>
        <p:nvSpPr>
          <p:cNvPr id="15" name="Text 13"/>
          <p:cNvSpPr/>
          <p:nvPr/>
        </p:nvSpPr>
        <p:spPr>
          <a:xfrm>
            <a:off x="4937760" y="1691640"/>
            <a:ext cx="1828800" cy="32004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Features</a:t>
            </a:r>
            <a:endParaRPr lang="en-US" sz="1100" dirty="0"/>
          </a:p>
        </p:txBody>
      </p:sp>
      <p:sp>
        <p:nvSpPr>
          <p:cNvPr id="16" name="Shape 14"/>
          <p:cNvSpPr/>
          <p:nvPr/>
        </p:nvSpPr>
        <p:spPr>
          <a:xfrm>
            <a:off x="7086600" y="1097280"/>
            <a:ext cx="1828800" cy="100584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7" name="Shape 15"/>
          <p:cNvSpPr/>
          <p:nvPr/>
        </p:nvSpPr>
        <p:spPr>
          <a:xfrm>
            <a:off x="7086600" y="1097280"/>
            <a:ext cx="1828800" cy="54864"/>
          </a:xfrm>
          <a:prstGeom prst="rect">
            <a:avLst/>
          </a:prstGeom>
          <a:solidFill>
            <a:srgbClr val="10B981"/>
          </a:solidFill>
          <a:ln/>
        </p:spPr>
      </p:sp>
      <p:sp>
        <p:nvSpPr>
          <p:cNvPr id="18" name="Text 16"/>
          <p:cNvSpPr/>
          <p:nvPr/>
        </p:nvSpPr>
        <p:spPr>
          <a:xfrm>
            <a:off x="7086600" y="1234440"/>
            <a:ext cx="1828800" cy="457200"/>
          </a:xfrm>
          <a:prstGeom prst="rect">
            <a:avLst/>
          </a:prstGeom>
          <a:noFill/>
          <a:ln/>
        </p:spPr>
        <p:txBody>
          <a:bodyPr wrap="square" lIns="0" tIns="0" rIns="0" bIns="0" rtlCol="0" anchor="ctr"/>
          <a:lstStyle/>
          <a:p>
            <a:pPr algn="ctr" indent="0" marL="0">
              <a:buNone/>
            </a:pPr>
            <a:r>
              <a:rPr lang="en-US" sz="2800" b="1" dirty="0">
                <a:solidFill>
                  <a:srgbClr val="10B981"/>
                </a:solidFill>
                <a:latin typeface="Georgia" pitchFamily="34" charset="0"/>
                <a:ea typeface="Georgia" pitchFamily="34" charset="-122"/>
                <a:cs typeface="Georgia" pitchFamily="34" charset="-120"/>
              </a:rPr>
              <a:t>13</a:t>
            </a:r>
            <a:endParaRPr lang="en-US" sz="2800" dirty="0"/>
          </a:p>
        </p:txBody>
      </p:sp>
      <p:sp>
        <p:nvSpPr>
          <p:cNvPr id="19" name="Text 17"/>
          <p:cNvSpPr/>
          <p:nvPr/>
        </p:nvSpPr>
        <p:spPr>
          <a:xfrm>
            <a:off x="7086600" y="1691640"/>
            <a:ext cx="1828800" cy="32004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Entities</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2331720"/>
          <a:ext cx="7863840" cy="2286000"/>
        </p:xfrm>
        <a:graphic>
          <a:graphicData uri="http://schemas.openxmlformats.org/drawingml/2006/table">
            <a:tbl>
              <a:tblPr/>
              <a:tblGrid>
                <a:gridCol w="1645920"/>
                <a:gridCol w="1097280"/>
                <a:gridCol w="5120640"/>
              </a:tblGrid>
              <a:tr h="27432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Feature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Type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Description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r>
              <a:tr h="274320">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reservation_status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Categorical</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Target variable: confirmed, checked_in, checked_out, cancelled, no_show</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74320">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nights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Numeric</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Duration of stay (1–14 nights)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74320">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Total_Price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Numeric</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Total room charge = nights × nightly rate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74320">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Booking_Source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Categorical</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Direct, OTA, Phone, Walk-in</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74320">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RoomType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Categorical</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Single (500), Double (900), Suite (1,500 EGP)</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74320">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City</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Categorical</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Guest origin: Cairo, Alex, Suez, Giza</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21" name="Shape 18"/>
          <p:cNvSpPr/>
          <p:nvPr/>
        </p:nvSpPr>
        <p:spPr>
          <a:xfrm>
            <a:off x="0" y="4754880"/>
            <a:ext cx="9144000" cy="388620"/>
          </a:xfrm>
          <a:prstGeom prst="rect">
            <a:avLst/>
          </a:prstGeom>
          <a:solidFill>
            <a:srgbClr val="0B2545"/>
          </a:solidFill>
          <a:ln/>
        </p:spPr>
      </p:sp>
      <p:sp>
        <p:nvSpPr>
          <p:cNvPr id="22" name="Text 19"/>
          <p:cNvSpPr/>
          <p:nvPr/>
        </p:nvSpPr>
        <p:spPr>
          <a:xfrm>
            <a:off x="457200" y="4773168"/>
            <a:ext cx="8229600" cy="36576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Hotel Reservation &amp; Billing Management System</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640080" y="320040"/>
            <a:ext cx="7315200" cy="548640"/>
          </a:xfrm>
          <a:prstGeom prst="rect">
            <a:avLst/>
          </a:prstGeom>
          <a:noFill/>
          <a:ln/>
        </p:spPr>
        <p:txBody>
          <a:bodyPr wrap="square" lIns="0" tIns="0" rIns="0" bIns="0" rtlCol="0" anchor="ctr"/>
          <a:lstStyle/>
          <a:p>
            <a:pPr indent="0" marL="0">
              <a:buNone/>
            </a:pPr>
            <a:r>
              <a:rPr lang="en-US" sz="2800" b="1" dirty="0">
                <a:solidFill>
                  <a:srgbClr val="0B2545"/>
                </a:solidFill>
                <a:latin typeface="Georgia" pitchFamily="34" charset="0"/>
                <a:ea typeface="Georgia" pitchFamily="34" charset="-122"/>
                <a:cs typeface="Georgia" pitchFamily="34" charset="-120"/>
              </a:rPr>
              <a:t>Data Cleaning &amp; Preprocessing</a:t>
            </a:r>
            <a:endParaRPr lang="en-US" sz="2800" dirty="0"/>
          </a:p>
        </p:txBody>
      </p:sp>
      <p:sp>
        <p:nvSpPr>
          <p:cNvPr id="3" name="Shape 1"/>
          <p:cNvSpPr/>
          <p:nvPr/>
        </p:nvSpPr>
        <p:spPr>
          <a:xfrm>
            <a:off x="640080" y="868680"/>
            <a:ext cx="1097280" cy="36576"/>
          </a:xfrm>
          <a:prstGeom prst="rect">
            <a:avLst/>
          </a:prstGeom>
          <a:solidFill>
            <a:srgbClr val="0EA5E9"/>
          </a:solidFill>
          <a:ln/>
        </p:spPr>
      </p:sp>
      <p:sp>
        <p:nvSpPr>
          <p:cNvPr id="4" name="Shape 2"/>
          <p:cNvSpPr/>
          <p:nvPr/>
        </p:nvSpPr>
        <p:spPr>
          <a:xfrm>
            <a:off x="640080" y="1143000"/>
            <a:ext cx="7863840" cy="749808"/>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5" name="Shape 3"/>
          <p:cNvSpPr/>
          <p:nvPr/>
        </p:nvSpPr>
        <p:spPr>
          <a:xfrm>
            <a:off x="640080" y="1143000"/>
            <a:ext cx="64008" cy="749808"/>
          </a:xfrm>
          <a:prstGeom prst="rect">
            <a:avLst/>
          </a:prstGeom>
          <a:solidFill>
            <a:srgbClr val="1C7293"/>
          </a:solidFill>
          <a:ln/>
        </p:spPr>
      </p:sp>
      <p:sp>
        <p:nvSpPr>
          <p:cNvPr id="6" name="Text 4"/>
          <p:cNvSpPr/>
          <p:nvPr/>
        </p:nvSpPr>
        <p:spPr>
          <a:xfrm>
            <a:off x="1005840" y="1197864"/>
            <a:ext cx="7132320" cy="27432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Feature Engineering</a:t>
            </a:r>
            <a:endParaRPr lang="en-US" sz="1400" dirty="0"/>
          </a:p>
        </p:txBody>
      </p:sp>
      <p:sp>
        <p:nvSpPr>
          <p:cNvPr id="7" name="Text 5"/>
          <p:cNvSpPr/>
          <p:nvPr/>
        </p:nvSpPr>
        <p:spPr>
          <a:xfrm>
            <a:off x="1005840" y="1490472"/>
            <a:ext cx="7132320" cy="320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Derived RoomType, NightlyRate, lead_time, check-in month/day-of-week from raw data</a:t>
            </a:r>
            <a:endParaRPr lang="en-US" sz="1100" dirty="0"/>
          </a:p>
        </p:txBody>
      </p:sp>
      <p:sp>
        <p:nvSpPr>
          <p:cNvPr id="8" name="Shape 6"/>
          <p:cNvSpPr/>
          <p:nvPr/>
        </p:nvSpPr>
        <p:spPr>
          <a:xfrm>
            <a:off x="640080" y="2029968"/>
            <a:ext cx="7863840" cy="749808"/>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9" name="Shape 7"/>
          <p:cNvSpPr/>
          <p:nvPr/>
        </p:nvSpPr>
        <p:spPr>
          <a:xfrm>
            <a:off x="640080" y="2029968"/>
            <a:ext cx="64008" cy="749808"/>
          </a:xfrm>
          <a:prstGeom prst="rect">
            <a:avLst/>
          </a:prstGeom>
          <a:solidFill>
            <a:srgbClr val="1C7293"/>
          </a:solidFill>
          <a:ln/>
        </p:spPr>
      </p:sp>
      <p:sp>
        <p:nvSpPr>
          <p:cNvPr id="10" name="Text 8"/>
          <p:cNvSpPr/>
          <p:nvPr/>
        </p:nvSpPr>
        <p:spPr>
          <a:xfrm>
            <a:off x="1005840" y="2084832"/>
            <a:ext cx="7132320" cy="27432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Encoding</a:t>
            </a:r>
            <a:endParaRPr lang="en-US" sz="1400" dirty="0"/>
          </a:p>
        </p:txBody>
      </p:sp>
      <p:sp>
        <p:nvSpPr>
          <p:cNvPr id="11" name="Text 9"/>
          <p:cNvSpPr/>
          <p:nvPr/>
        </p:nvSpPr>
        <p:spPr>
          <a:xfrm>
            <a:off x="1005840" y="2377440"/>
            <a:ext cx="7132320" cy="320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Categorical variables encoded for ML: Booking_Source, RoomType, City, reservation_status</a:t>
            </a:r>
            <a:endParaRPr lang="en-US" sz="1100" dirty="0"/>
          </a:p>
        </p:txBody>
      </p:sp>
      <p:sp>
        <p:nvSpPr>
          <p:cNvPr id="12" name="Shape 10"/>
          <p:cNvSpPr/>
          <p:nvPr/>
        </p:nvSpPr>
        <p:spPr>
          <a:xfrm>
            <a:off x="640080" y="2916936"/>
            <a:ext cx="7863840" cy="749808"/>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3" name="Shape 11"/>
          <p:cNvSpPr/>
          <p:nvPr/>
        </p:nvSpPr>
        <p:spPr>
          <a:xfrm>
            <a:off x="640080" y="2916936"/>
            <a:ext cx="64008" cy="749808"/>
          </a:xfrm>
          <a:prstGeom prst="rect">
            <a:avLst/>
          </a:prstGeom>
          <a:solidFill>
            <a:srgbClr val="1C7293"/>
          </a:solidFill>
          <a:ln/>
        </p:spPr>
      </p:sp>
      <p:sp>
        <p:nvSpPr>
          <p:cNvPr id="14" name="Text 12"/>
          <p:cNvSpPr/>
          <p:nvPr/>
        </p:nvSpPr>
        <p:spPr>
          <a:xfrm>
            <a:off x="1005840" y="2971800"/>
            <a:ext cx="7132320" cy="27432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Normalization</a:t>
            </a:r>
            <a:endParaRPr lang="en-US" sz="1400" dirty="0"/>
          </a:p>
        </p:txBody>
      </p:sp>
      <p:sp>
        <p:nvSpPr>
          <p:cNvPr id="15" name="Text 13"/>
          <p:cNvSpPr/>
          <p:nvPr/>
        </p:nvSpPr>
        <p:spPr>
          <a:xfrm>
            <a:off x="1005840" y="3264408"/>
            <a:ext cx="7132320" cy="320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Standardized numeric features (nights, Total_Price, NightlyRate) for SVM &amp; kNN compatibility</a:t>
            </a:r>
            <a:endParaRPr lang="en-US" sz="1100" dirty="0"/>
          </a:p>
        </p:txBody>
      </p:sp>
      <p:sp>
        <p:nvSpPr>
          <p:cNvPr id="16" name="Shape 14"/>
          <p:cNvSpPr/>
          <p:nvPr/>
        </p:nvSpPr>
        <p:spPr>
          <a:xfrm>
            <a:off x="640080" y="3803904"/>
            <a:ext cx="7863840" cy="749808"/>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7" name="Shape 15"/>
          <p:cNvSpPr/>
          <p:nvPr/>
        </p:nvSpPr>
        <p:spPr>
          <a:xfrm>
            <a:off x="640080" y="3803904"/>
            <a:ext cx="64008" cy="749808"/>
          </a:xfrm>
          <a:prstGeom prst="rect">
            <a:avLst/>
          </a:prstGeom>
          <a:solidFill>
            <a:srgbClr val="1C7293"/>
          </a:solidFill>
          <a:ln/>
        </p:spPr>
      </p:sp>
      <p:sp>
        <p:nvSpPr>
          <p:cNvPr id="18" name="Text 16"/>
          <p:cNvSpPr/>
          <p:nvPr/>
        </p:nvSpPr>
        <p:spPr>
          <a:xfrm>
            <a:off x="1005840" y="3858768"/>
            <a:ext cx="7132320" cy="27432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Outlier Detection</a:t>
            </a:r>
            <a:endParaRPr lang="en-US" sz="1400" dirty="0"/>
          </a:p>
        </p:txBody>
      </p:sp>
      <p:sp>
        <p:nvSpPr>
          <p:cNvPr id="19" name="Text 17"/>
          <p:cNvSpPr/>
          <p:nvPr/>
        </p:nvSpPr>
        <p:spPr>
          <a:xfrm>
            <a:off x="1005840" y="4151376"/>
            <a:ext cx="7132320" cy="320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IQR/z-score method to identify and handle statistical outliers in pricing and stay duration</a:t>
            </a:r>
            <a:endParaRPr lang="en-US" sz="1100" dirty="0"/>
          </a:p>
        </p:txBody>
      </p:sp>
      <p:sp>
        <p:nvSpPr>
          <p:cNvPr id="20" name="Shape 18"/>
          <p:cNvSpPr/>
          <p:nvPr/>
        </p:nvSpPr>
        <p:spPr>
          <a:xfrm>
            <a:off x="0" y="4754880"/>
            <a:ext cx="9144000" cy="388620"/>
          </a:xfrm>
          <a:prstGeom prst="rect">
            <a:avLst/>
          </a:prstGeom>
          <a:solidFill>
            <a:srgbClr val="0B2545"/>
          </a:solidFill>
          <a:ln/>
        </p:spPr>
      </p:sp>
      <p:sp>
        <p:nvSpPr>
          <p:cNvPr id="21" name="Text 19"/>
          <p:cNvSpPr/>
          <p:nvPr/>
        </p:nvSpPr>
        <p:spPr>
          <a:xfrm>
            <a:off x="457200" y="4773168"/>
            <a:ext cx="8229600" cy="36576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Hotel Reservation &amp; Billing Management System</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640080" y="320040"/>
            <a:ext cx="7315200" cy="548640"/>
          </a:xfrm>
          <a:prstGeom prst="rect">
            <a:avLst/>
          </a:prstGeom>
          <a:noFill/>
          <a:ln/>
        </p:spPr>
        <p:txBody>
          <a:bodyPr wrap="square" lIns="0" tIns="0" rIns="0" bIns="0" rtlCol="0" anchor="ctr"/>
          <a:lstStyle/>
          <a:p>
            <a:pPr indent="0" marL="0">
              <a:buNone/>
            </a:pPr>
            <a:r>
              <a:rPr lang="en-US" sz="2800" b="1" dirty="0">
                <a:solidFill>
                  <a:srgbClr val="0B2545"/>
                </a:solidFill>
                <a:latin typeface="Georgia" pitchFamily="34" charset="0"/>
                <a:ea typeface="Georgia" pitchFamily="34" charset="-122"/>
                <a:cs typeface="Georgia" pitchFamily="34" charset="-120"/>
              </a:rPr>
              <a:t>Missing Values Handling</a:t>
            </a:r>
            <a:endParaRPr lang="en-US" sz="2800" dirty="0"/>
          </a:p>
        </p:txBody>
      </p:sp>
      <p:sp>
        <p:nvSpPr>
          <p:cNvPr id="3" name="Shape 1"/>
          <p:cNvSpPr/>
          <p:nvPr/>
        </p:nvSpPr>
        <p:spPr>
          <a:xfrm>
            <a:off x="640080" y="868680"/>
            <a:ext cx="1097280" cy="36576"/>
          </a:xfrm>
          <a:prstGeom prst="rect">
            <a:avLst/>
          </a:prstGeom>
          <a:solidFill>
            <a:srgbClr val="0EA5E9"/>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097280"/>
          <a:ext cx="7863840" cy="2011680"/>
        </p:xfrm>
        <a:graphic>
          <a:graphicData uri="http://schemas.openxmlformats.org/drawingml/2006/table">
            <a:tbl>
              <a:tblPr/>
              <a:tblGrid>
                <a:gridCol w="2011680"/>
                <a:gridCol w="2011680"/>
                <a:gridCol w="384048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Field</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Issue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Strategy</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r>
              <a:tr h="292608">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Booking_Source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~15% NULL</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Mode imputation</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92608">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CancellationReason</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Most NULL</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Filled with 'No reason provided'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92608">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CheckedInByEmpID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Many NULL</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Left as-is (optional field)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92608">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Children_Count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Some NULL</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Filled with 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92608">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Discounts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Some NULL</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Filled with 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5" name="Shape 2"/>
          <p:cNvSpPr/>
          <p:nvPr/>
        </p:nvSpPr>
        <p:spPr>
          <a:xfrm>
            <a:off x="640080" y="3383280"/>
            <a:ext cx="7863840" cy="1097280"/>
          </a:xfrm>
          <a:prstGeom prst="rect">
            <a:avLst/>
          </a:prstGeom>
          <a:solidFill>
            <a:srgbClr val="FFF7ED"/>
          </a:solidFill>
          <a:ln/>
          <a:effectLst>
            <a:outerShdw sx="100000" sy="100000" kx="0" ky="0" algn="bl" rotWithShape="0" blurRad="50800" dist="25400" dir="8100000">
              <a:srgbClr val="000000">
                <a:alpha val="10000"/>
              </a:srgbClr>
            </a:outerShdw>
          </a:effectLst>
        </p:spPr>
      </p:sp>
      <p:sp>
        <p:nvSpPr>
          <p:cNvPr id="6" name="Shape 3"/>
          <p:cNvSpPr/>
          <p:nvPr/>
        </p:nvSpPr>
        <p:spPr>
          <a:xfrm>
            <a:off x="640080" y="3383280"/>
            <a:ext cx="64008" cy="1097280"/>
          </a:xfrm>
          <a:prstGeom prst="rect">
            <a:avLst/>
          </a:prstGeom>
          <a:solidFill>
            <a:srgbClr val="F59E0B"/>
          </a:solidFill>
          <a:ln/>
        </p:spPr>
      </p:sp>
      <p:sp>
        <p:nvSpPr>
          <p:cNvPr id="7" name="Text 4"/>
          <p:cNvSpPr/>
          <p:nvPr/>
        </p:nvSpPr>
        <p:spPr>
          <a:xfrm>
            <a:off x="1005840" y="3456432"/>
            <a:ext cx="6400800" cy="274320"/>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Key Data Quality Findings</a:t>
            </a:r>
            <a:endParaRPr lang="en-US" sz="1300" dirty="0"/>
          </a:p>
        </p:txBody>
      </p:sp>
      <p:sp>
        <p:nvSpPr>
          <p:cNvPr id="8" name="Text 5"/>
          <p:cNvSpPr/>
          <p:nvPr/>
        </p:nvSpPr>
        <p:spPr>
          <a:xfrm>
            <a:off x="1005840" y="3749040"/>
            <a:ext cx="7132320" cy="685800"/>
          </a:xfrm>
          <a:prstGeom prst="rect">
            <a:avLst/>
          </a:prstGeom>
          <a:noFill/>
          <a:ln/>
        </p:spPr>
        <p:txBody>
          <a:bodyPr wrap="square"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Booking_Source should be mandatory — 15% NULL prevents channel analysis</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CancellationReason must be required to enable targeted interventions</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Median/mode imputation used in Orange Preprocess widget for remaining gaps</a:t>
            </a:r>
            <a:endParaRPr lang="en-US" sz="1100" dirty="0"/>
          </a:p>
        </p:txBody>
      </p:sp>
      <p:sp>
        <p:nvSpPr>
          <p:cNvPr id="9" name="Shape 6"/>
          <p:cNvSpPr/>
          <p:nvPr/>
        </p:nvSpPr>
        <p:spPr>
          <a:xfrm>
            <a:off x="0" y="4754880"/>
            <a:ext cx="9144000" cy="388620"/>
          </a:xfrm>
          <a:prstGeom prst="rect">
            <a:avLst/>
          </a:prstGeom>
          <a:solidFill>
            <a:srgbClr val="0B2545"/>
          </a:solidFill>
          <a:ln/>
        </p:spPr>
      </p:sp>
      <p:sp>
        <p:nvSpPr>
          <p:cNvPr id="10" name="Text 7"/>
          <p:cNvSpPr/>
          <p:nvPr/>
        </p:nvSpPr>
        <p:spPr>
          <a:xfrm>
            <a:off x="457200" y="4773168"/>
            <a:ext cx="8229600" cy="36576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Hotel Reservation &amp; Billing Management System</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640080" y="320040"/>
            <a:ext cx="7315200" cy="548640"/>
          </a:xfrm>
          <a:prstGeom prst="rect">
            <a:avLst/>
          </a:prstGeom>
          <a:noFill/>
          <a:ln/>
        </p:spPr>
        <p:txBody>
          <a:bodyPr wrap="square" lIns="0" tIns="0" rIns="0" bIns="0" rtlCol="0" anchor="ctr"/>
          <a:lstStyle/>
          <a:p>
            <a:pPr indent="0" marL="0">
              <a:buNone/>
            </a:pPr>
            <a:r>
              <a:rPr lang="en-US" sz="2800" b="1" dirty="0">
                <a:solidFill>
                  <a:srgbClr val="0B2545"/>
                </a:solidFill>
                <a:latin typeface="Georgia" pitchFamily="34" charset="0"/>
                <a:ea typeface="Georgia" pitchFamily="34" charset="-122"/>
                <a:cs typeface="Georgia" pitchFamily="34" charset="-120"/>
              </a:rPr>
              <a:t>Exploratory Data Analysis</a:t>
            </a:r>
            <a:endParaRPr lang="en-US" sz="2800" dirty="0"/>
          </a:p>
        </p:txBody>
      </p:sp>
      <p:sp>
        <p:nvSpPr>
          <p:cNvPr id="3" name="Shape 1"/>
          <p:cNvSpPr/>
          <p:nvPr/>
        </p:nvSpPr>
        <p:spPr>
          <a:xfrm>
            <a:off x="640080" y="868680"/>
            <a:ext cx="1097280" cy="36576"/>
          </a:xfrm>
          <a:prstGeom prst="rect">
            <a:avLst/>
          </a:prstGeom>
          <a:solidFill>
            <a:srgbClr val="0EA5E9"/>
          </a:solidFill>
          <a:ln/>
        </p:spPr>
      </p:sp>
      <p:sp>
        <p:nvSpPr>
          <p:cNvPr id="4" name="Shape 2"/>
          <p:cNvSpPr/>
          <p:nvPr/>
        </p:nvSpPr>
        <p:spPr>
          <a:xfrm>
            <a:off x="640080" y="1143000"/>
            <a:ext cx="3840480" cy="14173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5" name="Shape 3"/>
          <p:cNvSpPr/>
          <p:nvPr/>
        </p:nvSpPr>
        <p:spPr>
          <a:xfrm>
            <a:off x="640080" y="1143000"/>
            <a:ext cx="3840480" cy="54864"/>
          </a:xfrm>
          <a:prstGeom prst="rect">
            <a:avLst/>
          </a:prstGeom>
          <a:solidFill>
            <a:srgbClr val="065A82"/>
          </a:solidFill>
          <a:ln/>
        </p:spPr>
      </p:sp>
      <p:sp>
        <p:nvSpPr>
          <p:cNvPr id="6" name="Text 4"/>
          <p:cNvSpPr/>
          <p:nvPr/>
        </p:nvSpPr>
        <p:spPr>
          <a:xfrm>
            <a:off x="822960" y="1280160"/>
            <a:ext cx="3474720" cy="320040"/>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Distributions</a:t>
            </a:r>
            <a:endParaRPr lang="en-US" sz="1500" dirty="0"/>
          </a:p>
        </p:txBody>
      </p:sp>
      <p:sp>
        <p:nvSpPr>
          <p:cNvPr id="7" name="Text 5"/>
          <p:cNvSpPr/>
          <p:nvPr/>
        </p:nvSpPr>
        <p:spPr>
          <a:xfrm>
            <a:off x="822960" y="1645920"/>
            <a:ext cx="3474720" cy="7772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Histograms for nights &amp; Total_Price</a:t>
            </a:r>
            <a:endParaRPr lang="en-US" sz="1100" dirty="0"/>
          </a:p>
          <a:p>
            <a:pPr indent="0" marL="0">
              <a:buNone/>
            </a:pPr>
            <a:r>
              <a:rPr lang="en-US" sz="1100" dirty="0">
                <a:solidFill>
                  <a:srgbClr val="64748B"/>
                </a:solidFill>
                <a:latin typeface="Calibri" pitchFamily="34" charset="0"/>
                <a:ea typeface="Calibri" pitchFamily="34" charset="-122"/>
                <a:cs typeface="Calibri" pitchFamily="34" charset="-120"/>
              </a:rPr>
              <a:t>Pie charts for room type &amp; status</a:t>
            </a:r>
            <a:endParaRPr lang="en-US" sz="1100" dirty="0"/>
          </a:p>
        </p:txBody>
      </p:sp>
      <p:sp>
        <p:nvSpPr>
          <p:cNvPr id="8" name="Shape 6"/>
          <p:cNvSpPr/>
          <p:nvPr/>
        </p:nvSpPr>
        <p:spPr>
          <a:xfrm>
            <a:off x="4800600" y="1143000"/>
            <a:ext cx="3840480" cy="14173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9" name="Shape 7"/>
          <p:cNvSpPr/>
          <p:nvPr/>
        </p:nvSpPr>
        <p:spPr>
          <a:xfrm>
            <a:off x="4800600" y="1143000"/>
            <a:ext cx="3840480" cy="54864"/>
          </a:xfrm>
          <a:prstGeom prst="rect">
            <a:avLst/>
          </a:prstGeom>
          <a:solidFill>
            <a:srgbClr val="1C7293"/>
          </a:solidFill>
          <a:ln/>
        </p:spPr>
      </p:sp>
      <p:sp>
        <p:nvSpPr>
          <p:cNvPr id="10" name="Text 8"/>
          <p:cNvSpPr/>
          <p:nvPr/>
        </p:nvSpPr>
        <p:spPr>
          <a:xfrm>
            <a:off x="4983480" y="1280160"/>
            <a:ext cx="3474720" cy="320040"/>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Correlations</a:t>
            </a:r>
            <a:endParaRPr lang="en-US" sz="1500" dirty="0"/>
          </a:p>
        </p:txBody>
      </p:sp>
      <p:sp>
        <p:nvSpPr>
          <p:cNvPr id="11" name="Text 9"/>
          <p:cNvSpPr/>
          <p:nvPr/>
        </p:nvSpPr>
        <p:spPr>
          <a:xfrm>
            <a:off x="4983480" y="1645920"/>
            <a:ext cx="3474720" cy="7772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Heatmap: nights &amp; Total_Price</a:t>
            </a:r>
            <a:endParaRPr lang="en-US" sz="1100" dirty="0"/>
          </a:p>
          <a:p>
            <a:pPr indent="0" marL="0">
              <a:buNone/>
            </a:pPr>
            <a:r>
              <a:rPr lang="en-US" sz="1100" dirty="0">
                <a:solidFill>
                  <a:srgbClr val="64748B"/>
                </a:solidFill>
                <a:latin typeface="Calibri" pitchFamily="34" charset="0"/>
                <a:ea typeface="Calibri" pitchFamily="34" charset="-122"/>
                <a:cs typeface="Calibri" pitchFamily="34" charset="-120"/>
              </a:rPr>
              <a:t>highly correlated (r ≈ 0.9)</a:t>
            </a:r>
            <a:endParaRPr lang="en-US" sz="1100" dirty="0"/>
          </a:p>
        </p:txBody>
      </p:sp>
      <p:sp>
        <p:nvSpPr>
          <p:cNvPr id="12" name="Shape 10"/>
          <p:cNvSpPr/>
          <p:nvPr/>
        </p:nvSpPr>
        <p:spPr>
          <a:xfrm>
            <a:off x="640080" y="2834640"/>
            <a:ext cx="3840480" cy="14173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3" name="Shape 11"/>
          <p:cNvSpPr/>
          <p:nvPr/>
        </p:nvSpPr>
        <p:spPr>
          <a:xfrm>
            <a:off x="640080" y="2834640"/>
            <a:ext cx="3840480" cy="54864"/>
          </a:xfrm>
          <a:prstGeom prst="rect">
            <a:avLst/>
          </a:prstGeom>
          <a:solidFill>
            <a:srgbClr val="0EA5E9"/>
          </a:solidFill>
          <a:ln/>
        </p:spPr>
      </p:sp>
      <p:sp>
        <p:nvSpPr>
          <p:cNvPr id="14" name="Text 12"/>
          <p:cNvSpPr/>
          <p:nvPr/>
        </p:nvSpPr>
        <p:spPr>
          <a:xfrm>
            <a:off x="822960" y="2971800"/>
            <a:ext cx="3474720" cy="320040"/>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Segmentation</a:t>
            </a:r>
            <a:endParaRPr lang="en-US" sz="1500" dirty="0"/>
          </a:p>
        </p:txBody>
      </p:sp>
      <p:sp>
        <p:nvSpPr>
          <p:cNvPr id="15" name="Text 13"/>
          <p:cNvSpPr/>
          <p:nvPr/>
        </p:nvSpPr>
        <p:spPr>
          <a:xfrm>
            <a:off x="822960" y="3337560"/>
            <a:ext cx="3474720" cy="7772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Couples most common (55%)</a:t>
            </a:r>
            <a:endParaRPr lang="en-US" sz="1100" dirty="0"/>
          </a:p>
          <a:p>
            <a:pPr indent="0" marL="0">
              <a:buNone/>
            </a:pPr>
            <a:r>
              <a:rPr lang="en-US" sz="1100" dirty="0">
                <a:solidFill>
                  <a:srgbClr val="64748B"/>
                </a:solidFill>
                <a:latin typeface="Calibri" pitchFamily="34" charset="0"/>
                <a:ea typeface="Calibri" pitchFamily="34" charset="-122"/>
                <a:cs typeface="Calibri" pitchFamily="34" charset="-120"/>
              </a:rPr>
              <a:t>Cairo &amp; Alex top guest cities</a:t>
            </a:r>
            <a:endParaRPr lang="en-US" sz="1100" dirty="0"/>
          </a:p>
        </p:txBody>
      </p:sp>
      <p:sp>
        <p:nvSpPr>
          <p:cNvPr id="16" name="Shape 14"/>
          <p:cNvSpPr/>
          <p:nvPr/>
        </p:nvSpPr>
        <p:spPr>
          <a:xfrm>
            <a:off x="4800600" y="2834640"/>
            <a:ext cx="3840480" cy="14173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7" name="Shape 15"/>
          <p:cNvSpPr/>
          <p:nvPr/>
        </p:nvSpPr>
        <p:spPr>
          <a:xfrm>
            <a:off x="4800600" y="2834640"/>
            <a:ext cx="3840480" cy="54864"/>
          </a:xfrm>
          <a:prstGeom prst="rect">
            <a:avLst/>
          </a:prstGeom>
          <a:solidFill>
            <a:srgbClr val="10B981"/>
          </a:solidFill>
          <a:ln/>
        </p:spPr>
      </p:sp>
      <p:sp>
        <p:nvSpPr>
          <p:cNvPr id="18" name="Text 16"/>
          <p:cNvSpPr/>
          <p:nvPr/>
        </p:nvSpPr>
        <p:spPr>
          <a:xfrm>
            <a:off x="4983480" y="2971800"/>
            <a:ext cx="3474720" cy="320040"/>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Temporal</a:t>
            </a:r>
            <a:endParaRPr lang="en-US" sz="1500" dirty="0"/>
          </a:p>
        </p:txBody>
      </p:sp>
      <p:sp>
        <p:nvSpPr>
          <p:cNvPr id="19" name="Text 17"/>
          <p:cNvSpPr/>
          <p:nvPr/>
        </p:nvSpPr>
        <p:spPr>
          <a:xfrm>
            <a:off x="4983480" y="3337560"/>
            <a:ext cx="3474720" cy="7772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January 2026 = peak month</a:t>
            </a:r>
            <a:endParaRPr lang="en-US" sz="1100" dirty="0"/>
          </a:p>
          <a:p>
            <a:pPr indent="0" marL="0">
              <a:buNone/>
            </a:pPr>
            <a:r>
              <a:rPr lang="en-US" sz="1100" dirty="0">
                <a:solidFill>
                  <a:srgbClr val="64748B"/>
                </a:solidFill>
                <a:latin typeface="Calibri" pitchFamily="34" charset="0"/>
                <a:ea typeface="Calibri" pitchFamily="34" charset="-122"/>
                <a:cs typeface="Calibri" pitchFamily="34" charset="-120"/>
              </a:rPr>
              <a:t>Weekends show higher bookings</a:t>
            </a:r>
            <a:endParaRPr lang="en-US" sz="1100" dirty="0"/>
          </a:p>
        </p:txBody>
      </p:sp>
      <p:sp>
        <p:nvSpPr>
          <p:cNvPr id="20" name="Shape 18"/>
          <p:cNvSpPr/>
          <p:nvPr/>
        </p:nvSpPr>
        <p:spPr>
          <a:xfrm>
            <a:off x="0" y="4754880"/>
            <a:ext cx="9144000" cy="388620"/>
          </a:xfrm>
          <a:prstGeom prst="rect">
            <a:avLst/>
          </a:prstGeom>
          <a:solidFill>
            <a:srgbClr val="0B2545"/>
          </a:solidFill>
          <a:ln/>
        </p:spPr>
      </p:sp>
      <p:sp>
        <p:nvSpPr>
          <p:cNvPr id="21" name="Text 19"/>
          <p:cNvSpPr/>
          <p:nvPr/>
        </p:nvSpPr>
        <p:spPr>
          <a:xfrm>
            <a:off x="457200" y="4773168"/>
            <a:ext cx="8229600" cy="36576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Hotel Reservation &amp; Billing Management System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640080" y="320040"/>
            <a:ext cx="7315200" cy="548640"/>
          </a:xfrm>
          <a:prstGeom prst="rect">
            <a:avLst/>
          </a:prstGeom>
          <a:noFill/>
          <a:ln/>
        </p:spPr>
        <p:txBody>
          <a:bodyPr wrap="square" lIns="0" tIns="0" rIns="0" bIns="0" rtlCol="0" anchor="ctr"/>
          <a:lstStyle/>
          <a:p>
            <a:pPr indent="0" marL="0">
              <a:buNone/>
            </a:pPr>
            <a:r>
              <a:rPr lang="en-US" sz="2800" b="1" dirty="0">
                <a:solidFill>
                  <a:srgbClr val="0B2545"/>
                </a:solidFill>
                <a:latin typeface="Georgia" pitchFamily="34" charset="0"/>
                <a:ea typeface="Georgia" pitchFamily="34" charset="-122"/>
                <a:cs typeface="Georgia" pitchFamily="34" charset="-120"/>
              </a:rPr>
              <a:t>Stay Duration Distribution</a:t>
            </a:r>
            <a:endParaRPr lang="en-US" sz="2800" dirty="0"/>
          </a:p>
        </p:txBody>
      </p:sp>
      <p:sp>
        <p:nvSpPr>
          <p:cNvPr id="3" name="Shape 1"/>
          <p:cNvSpPr/>
          <p:nvPr/>
        </p:nvSpPr>
        <p:spPr>
          <a:xfrm>
            <a:off x="640080" y="868680"/>
            <a:ext cx="1097280" cy="36576"/>
          </a:xfrm>
          <a:prstGeom prst="rect">
            <a:avLst/>
          </a:prstGeom>
          <a:solidFill>
            <a:srgbClr val="0EA5E9"/>
          </a:solidFill>
          <a:ln/>
        </p:spPr>
      </p:sp>
      <p:graphicFrame>
        <p:nvGraphicFramePr>
          <p:cNvPr id="4" name="Chart 0" descr=""/>
          <p:cNvGraphicFramePr/>
          <p:nvPr/>
        </p:nvGraphicFramePr>
        <p:xfrm>
          <a:off x="640080" y="1051560"/>
          <a:ext cx="5029200" cy="3200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943600" y="1051560"/>
            <a:ext cx="2560320" cy="32004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3"/>
          <p:cNvSpPr/>
          <p:nvPr/>
        </p:nvSpPr>
        <p:spPr>
          <a:xfrm>
            <a:off x="5943600" y="1051560"/>
            <a:ext cx="2560320" cy="54864"/>
          </a:xfrm>
          <a:prstGeom prst="rect">
            <a:avLst/>
          </a:prstGeom>
          <a:solidFill>
            <a:srgbClr val="065A82"/>
          </a:solidFill>
          <a:ln/>
        </p:spPr>
      </p:sp>
      <p:sp>
        <p:nvSpPr>
          <p:cNvPr id="7" name="Text 4"/>
          <p:cNvSpPr/>
          <p:nvPr/>
        </p:nvSpPr>
        <p:spPr>
          <a:xfrm>
            <a:off x="6126480" y="1234440"/>
            <a:ext cx="2194560" cy="27432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Key Insights</a:t>
            </a:r>
            <a:endParaRPr lang="en-US" sz="1400" dirty="0"/>
          </a:p>
        </p:txBody>
      </p:sp>
      <p:sp>
        <p:nvSpPr>
          <p:cNvPr id="8" name="Text 5"/>
          <p:cNvSpPr/>
          <p:nvPr/>
        </p:nvSpPr>
        <p:spPr>
          <a:xfrm>
            <a:off x="6126480" y="1600200"/>
            <a:ext cx="2194560" cy="2468880"/>
          </a:xfrm>
          <a:prstGeom prst="rect">
            <a:avLst/>
          </a:prstGeom>
          <a:noFill/>
          <a:ln/>
        </p:spPr>
        <p:txBody>
          <a:bodyPr wrap="square" rtlCol="0" anchor="ctr"/>
          <a:lstStyle/>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Mean stay: ~4.8 nights</a:t>
            </a:r>
            <a:endParaRPr lang="en-US" sz="1000" dirty="0"/>
          </a:p>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Median stay: 4 nights</a:t>
            </a:r>
            <a:endParaRPr lang="en-US" sz="1000" dirty="0"/>
          </a:p>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Slight right skew from long stays</a:t>
            </a:r>
            <a:endParaRPr lang="en-US" sz="1000" dirty="0"/>
          </a:p>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Most guests stay 3–5 nights</a:t>
            </a:r>
            <a:endParaRPr lang="en-US" sz="1000" dirty="0"/>
          </a:p>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Suggests mid-stay packages would match demand</a:t>
            </a:r>
            <a:endParaRPr lang="en-US" sz="1000" dirty="0"/>
          </a:p>
        </p:txBody>
      </p:sp>
      <p:sp>
        <p:nvSpPr>
          <p:cNvPr id="9" name="Text 6"/>
          <p:cNvSpPr/>
          <p:nvPr/>
        </p:nvSpPr>
        <p:spPr>
          <a:xfrm>
            <a:off x="6126480" y="3931920"/>
            <a:ext cx="219456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Suggested Visual: Histogram</a:t>
            </a:r>
            <a:endParaRPr lang="en-US" sz="900" dirty="0"/>
          </a:p>
        </p:txBody>
      </p:sp>
      <p:sp>
        <p:nvSpPr>
          <p:cNvPr id="10" name="Shape 7"/>
          <p:cNvSpPr/>
          <p:nvPr/>
        </p:nvSpPr>
        <p:spPr>
          <a:xfrm>
            <a:off x="0" y="4754880"/>
            <a:ext cx="9144000" cy="388620"/>
          </a:xfrm>
          <a:prstGeom prst="rect">
            <a:avLst/>
          </a:prstGeom>
          <a:solidFill>
            <a:srgbClr val="0B2545"/>
          </a:solidFill>
          <a:ln/>
        </p:spPr>
      </p:sp>
      <p:sp>
        <p:nvSpPr>
          <p:cNvPr id="11" name="Text 8"/>
          <p:cNvSpPr/>
          <p:nvPr/>
        </p:nvSpPr>
        <p:spPr>
          <a:xfrm>
            <a:off x="457200" y="4773168"/>
            <a:ext cx="8229600" cy="36576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Hotel Reservation &amp; Billing Management System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640080" y="320040"/>
            <a:ext cx="7315200" cy="548640"/>
          </a:xfrm>
          <a:prstGeom prst="rect">
            <a:avLst/>
          </a:prstGeom>
          <a:noFill/>
          <a:ln/>
        </p:spPr>
        <p:txBody>
          <a:bodyPr wrap="square" lIns="0" tIns="0" rIns="0" bIns="0" rtlCol="0" anchor="ctr"/>
          <a:lstStyle/>
          <a:p>
            <a:pPr indent="0" marL="0">
              <a:buNone/>
            </a:pPr>
            <a:r>
              <a:rPr lang="en-US" sz="2800" b="1" dirty="0">
                <a:solidFill>
                  <a:srgbClr val="0B2545"/>
                </a:solidFill>
                <a:latin typeface="Georgia" pitchFamily="34" charset="0"/>
                <a:ea typeface="Georgia" pitchFamily="34" charset="-122"/>
                <a:cs typeface="Georgia" pitchFamily="34" charset="-120"/>
              </a:rPr>
              <a:t>Room Type &amp; Revenue Breakdown</a:t>
            </a:r>
            <a:endParaRPr lang="en-US" sz="2800" dirty="0"/>
          </a:p>
        </p:txBody>
      </p:sp>
      <p:sp>
        <p:nvSpPr>
          <p:cNvPr id="3" name="Shape 1"/>
          <p:cNvSpPr/>
          <p:nvPr/>
        </p:nvSpPr>
        <p:spPr>
          <a:xfrm>
            <a:off x="640080" y="868680"/>
            <a:ext cx="1097280" cy="36576"/>
          </a:xfrm>
          <a:prstGeom prst="rect">
            <a:avLst/>
          </a:prstGeom>
          <a:solidFill>
            <a:srgbClr val="0EA5E9"/>
          </a:solidFill>
          <a:ln/>
        </p:spPr>
      </p:sp>
      <p:graphicFrame>
        <p:nvGraphicFramePr>
          <p:cNvPr id="4" name="Chart 0" descr=""/>
          <p:cNvGraphicFramePr/>
          <p:nvPr/>
        </p:nvGraphicFramePr>
        <p:xfrm>
          <a:off x="457200" y="1051560"/>
          <a:ext cx="4114800" cy="3200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4846320" y="1051560"/>
            <a:ext cx="3657600" cy="32004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3"/>
          <p:cNvSpPr/>
          <p:nvPr/>
        </p:nvSpPr>
        <p:spPr>
          <a:xfrm>
            <a:off x="4846320" y="1051560"/>
            <a:ext cx="3657600" cy="54864"/>
          </a:xfrm>
          <a:prstGeom prst="rect">
            <a:avLst/>
          </a:prstGeom>
          <a:solidFill>
            <a:srgbClr val="F59E0B"/>
          </a:solidFill>
          <a:ln/>
        </p:spPr>
      </p:sp>
      <p:sp>
        <p:nvSpPr>
          <p:cNvPr id="7" name="Text 4"/>
          <p:cNvSpPr/>
          <p:nvPr/>
        </p:nvSpPr>
        <p:spPr>
          <a:xfrm>
            <a:off x="5029200" y="1234440"/>
            <a:ext cx="3291840" cy="27432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Revenue Per Night (EGP)</a:t>
            </a:r>
            <a:endParaRPr lang="en-US" sz="1400" dirty="0"/>
          </a:p>
        </p:txBody>
      </p:sp>
      <p:sp>
        <p:nvSpPr>
          <p:cNvPr id="8" name="Shape 5"/>
          <p:cNvSpPr/>
          <p:nvPr/>
        </p:nvSpPr>
        <p:spPr>
          <a:xfrm>
            <a:off x="5212080" y="1645920"/>
            <a:ext cx="2926080" cy="594360"/>
          </a:xfrm>
          <a:prstGeom prst="rect">
            <a:avLst/>
          </a:prstGeom>
          <a:solidFill>
            <a:srgbClr val="F7FAFC"/>
          </a:solidFill>
          <a:ln/>
        </p:spPr>
      </p:sp>
      <p:sp>
        <p:nvSpPr>
          <p:cNvPr id="9" name="Shape 6"/>
          <p:cNvSpPr/>
          <p:nvPr/>
        </p:nvSpPr>
        <p:spPr>
          <a:xfrm>
            <a:off x="5212080" y="1645920"/>
            <a:ext cx="54864" cy="594360"/>
          </a:xfrm>
          <a:prstGeom prst="rect">
            <a:avLst/>
          </a:prstGeom>
          <a:solidFill>
            <a:srgbClr val="1C7293"/>
          </a:solidFill>
          <a:ln/>
        </p:spPr>
      </p:sp>
      <p:sp>
        <p:nvSpPr>
          <p:cNvPr id="10" name="Text 7"/>
          <p:cNvSpPr/>
          <p:nvPr/>
        </p:nvSpPr>
        <p:spPr>
          <a:xfrm>
            <a:off x="5486400" y="1691640"/>
            <a:ext cx="1371600" cy="228600"/>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Single</a:t>
            </a:r>
            <a:endParaRPr lang="en-US" sz="1200" dirty="0"/>
          </a:p>
        </p:txBody>
      </p:sp>
      <p:sp>
        <p:nvSpPr>
          <p:cNvPr id="11" name="Text 8"/>
          <p:cNvSpPr/>
          <p:nvPr/>
        </p:nvSpPr>
        <p:spPr>
          <a:xfrm>
            <a:off x="5486400" y="1938528"/>
            <a:ext cx="2286000" cy="2286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500 EGP/night</a:t>
            </a:r>
            <a:endParaRPr lang="en-US" sz="1100" dirty="0"/>
          </a:p>
        </p:txBody>
      </p:sp>
      <p:sp>
        <p:nvSpPr>
          <p:cNvPr id="12" name="Shape 9"/>
          <p:cNvSpPr/>
          <p:nvPr/>
        </p:nvSpPr>
        <p:spPr>
          <a:xfrm>
            <a:off x="5212080" y="2423160"/>
            <a:ext cx="2926080" cy="594360"/>
          </a:xfrm>
          <a:prstGeom prst="rect">
            <a:avLst/>
          </a:prstGeom>
          <a:solidFill>
            <a:srgbClr val="F7FAFC"/>
          </a:solidFill>
          <a:ln/>
        </p:spPr>
      </p:sp>
      <p:sp>
        <p:nvSpPr>
          <p:cNvPr id="13" name="Shape 10"/>
          <p:cNvSpPr/>
          <p:nvPr/>
        </p:nvSpPr>
        <p:spPr>
          <a:xfrm>
            <a:off x="5212080" y="2423160"/>
            <a:ext cx="54864" cy="594360"/>
          </a:xfrm>
          <a:prstGeom prst="rect">
            <a:avLst/>
          </a:prstGeom>
          <a:solidFill>
            <a:srgbClr val="065A82"/>
          </a:solidFill>
          <a:ln/>
        </p:spPr>
      </p:sp>
      <p:sp>
        <p:nvSpPr>
          <p:cNvPr id="14" name="Text 11"/>
          <p:cNvSpPr/>
          <p:nvPr/>
        </p:nvSpPr>
        <p:spPr>
          <a:xfrm>
            <a:off x="5486400" y="2468880"/>
            <a:ext cx="1371600" cy="228600"/>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Double</a:t>
            </a:r>
            <a:endParaRPr lang="en-US" sz="1200" dirty="0"/>
          </a:p>
        </p:txBody>
      </p:sp>
      <p:sp>
        <p:nvSpPr>
          <p:cNvPr id="15" name="Text 12"/>
          <p:cNvSpPr/>
          <p:nvPr/>
        </p:nvSpPr>
        <p:spPr>
          <a:xfrm>
            <a:off x="5486400" y="2715768"/>
            <a:ext cx="2286000" cy="2286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900 EGP/night</a:t>
            </a:r>
            <a:endParaRPr lang="en-US" sz="1100" dirty="0"/>
          </a:p>
        </p:txBody>
      </p:sp>
      <p:sp>
        <p:nvSpPr>
          <p:cNvPr id="16" name="Shape 13"/>
          <p:cNvSpPr/>
          <p:nvPr/>
        </p:nvSpPr>
        <p:spPr>
          <a:xfrm>
            <a:off x="5212080" y="3200400"/>
            <a:ext cx="2926080" cy="594360"/>
          </a:xfrm>
          <a:prstGeom prst="rect">
            <a:avLst/>
          </a:prstGeom>
          <a:solidFill>
            <a:srgbClr val="F7FAFC"/>
          </a:solidFill>
          <a:ln/>
        </p:spPr>
      </p:sp>
      <p:sp>
        <p:nvSpPr>
          <p:cNvPr id="17" name="Shape 14"/>
          <p:cNvSpPr/>
          <p:nvPr/>
        </p:nvSpPr>
        <p:spPr>
          <a:xfrm>
            <a:off x="5212080" y="3200400"/>
            <a:ext cx="54864" cy="594360"/>
          </a:xfrm>
          <a:prstGeom prst="rect">
            <a:avLst/>
          </a:prstGeom>
          <a:solidFill>
            <a:srgbClr val="F59E0B"/>
          </a:solidFill>
          <a:ln/>
        </p:spPr>
      </p:sp>
      <p:sp>
        <p:nvSpPr>
          <p:cNvPr id="18" name="Text 15"/>
          <p:cNvSpPr/>
          <p:nvPr/>
        </p:nvSpPr>
        <p:spPr>
          <a:xfrm>
            <a:off x="5486400" y="3246120"/>
            <a:ext cx="1371600" cy="228600"/>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Suite</a:t>
            </a:r>
            <a:endParaRPr lang="en-US" sz="1200" dirty="0"/>
          </a:p>
        </p:txBody>
      </p:sp>
      <p:sp>
        <p:nvSpPr>
          <p:cNvPr id="19" name="Text 16"/>
          <p:cNvSpPr/>
          <p:nvPr/>
        </p:nvSpPr>
        <p:spPr>
          <a:xfrm>
            <a:off x="5486400" y="3493008"/>
            <a:ext cx="2286000" cy="2286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1,500 EGP/night</a:t>
            </a:r>
            <a:endParaRPr lang="en-US" sz="1100" dirty="0"/>
          </a:p>
        </p:txBody>
      </p:sp>
      <p:sp>
        <p:nvSpPr>
          <p:cNvPr id="20" name="Text 17"/>
          <p:cNvSpPr/>
          <p:nvPr/>
        </p:nvSpPr>
        <p:spPr>
          <a:xfrm>
            <a:off x="5029200" y="3977640"/>
            <a:ext cx="329184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Suggested Visual: Pie + Price Cards</a:t>
            </a:r>
            <a:endParaRPr lang="en-US" sz="900" dirty="0"/>
          </a:p>
        </p:txBody>
      </p:sp>
      <p:sp>
        <p:nvSpPr>
          <p:cNvPr id="21" name="Shape 18"/>
          <p:cNvSpPr/>
          <p:nvPr/>
        </p:nvSpPr>
        <p:spPr>
          <a:xfrm>
            <a:off x="0" y="4754880"/>
            <a:ext cx="9144000" cy="388620"/>
          </a:xfrm>
          <a:prstGeom prst="rect">
            <a:avLst/>
          </a:prstGeom>
          <a:solidFill>
            <a:srgbClr val="0B2545"/>
          </a:solidFill>
          <a:ln/>
        </p:spPr>
      </p:sp>
      <p:sp>
        <p:nvSpPr>
          <p:cNvPr id="22" name="Text 19"/>
          <p:cNvSpPr/>
          <p:nvPr/>
        </p:nvSpPr>
        <p:spPr>
          <a:xfrm>
            <a:off x="457200" y="4773168"/>
            <a:ext cx="8229600" cy="36576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Hotel Reservation &amp; Billing Management System</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640080" y="320040"/>
            <a:ext cx="7315200" cy="548640"/>
          </a:xfrm>
          <a:prstGeom prst="rect">
            <a:avLst/>
          </a:prstGeom>
          <a:noFill/>
          <a:ln/>
        </p:spPr>
        <p:txBody>
          <a:bodyPr wrap="square" lIns="0" tIns="0" rIns="0" bIns="0" rtlCol="0" anchor="ctr"/>
          <a:lstStyle/>
          <a:p>
            <a:pPr indent="0" marL="0">
              <a:buNone/>
            </a:pPr>
            <a:r>
              <a:rPr lang="en-US" sz="2800" b="1" dirty="0">
                <a:solidFill>
                  <a:srgbClr val="0B2545"/>
                </a:solidFill>
                <a:latin typeface="Georgia" pitchFamily="34" charset="0"/>
                <a:ea typeface="Georgia" pitchFamily="34" charset="-122"/>
                <a:cs typeface="Georgia" pitchFamily="34" charset="-120"/>
              </a:rPr>
              <a:t>Top Services by Revenue</a:t>
            </a:r>
            <a:endParaRPr lang="en-US" sz="2800" dirty="0"/>
          </a:p>
        </p:txBody>
      </p:sp>
      <p:sp>
        <p:nvSpPr>
          <p:cNvPr id="3" name="Shape 1"/>
          <p:cNvSpPr/>
          <p:nvPr/>
        </p:nvSpPr>
        <p:spPr>
          <a:xfrm>
            <a:off x="640080" y="868680"/>
            <a:ext cx="1097280" cy="36576"/>
          </a:xfrm>
          <a:prstGeom prst="rect">
            <a:avLst/>
          </a:prstGeom>
          <a:solidFill>
            <a:srgbClr val="0EA5E9"/>
          </a:solidFill>
          <a:ln/>
        </p:spPr>
      </p:sp>
      <p:graphicFrame>
        <p:nvGraphicFramePr>
          <p:cNvPr id="4" name="Chart 0" descr=""/>
          <p:cNvGraphicFramePr/>
          <p:nvPr/>
        </p:nvGraphicFramePr>
        <p:xfrm>
          <a:off x="640080" y="1051560"/>
          <a:ext cx="5029200" cy="3200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943600" y="1051560"/>
            <a:ext cx="2560320" cy="32004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3"/>
          <p:cNvSpPr/>
          <p:nvPr/>
        </p:nvSpPr>
        <p:spPr>
          <a:xfrm>
            <a:off x="5943600" y="1051560"/>
            <a:ext cx="2560320" cy="54864"/>
          </a:xfrm>
          <a:prstGeom prst="rect">
            <a:avLst/>
          </a:prstGeom>
          <a:solidFill>
            <a:srgbClr val="10B981"/>
          </a:solidFill>
          <a:ln/>
        </p:spPr>
      </p:sp>
      <p:sp>
        <p:nvSpPr>
          <p:cNvPr id="7" name="Text 4"/>
          <p:cNvSpPr/>
          <p:nvPr/>
        </p:nvSpPr>
        <p:spPr>
          <a:xfrm>
            <a:off x="6126480" y="1234440"/>
            <a:ext cx="2194560" cy="27432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Key Insights</a:t>
            </a:r>
            <a:endParaRPr lang="en-US" sz="1400" dirty="0"/>
          </a:p>
        </p:txBody>
      </p:sp>
      <p:sp>
        <p:nvSpPr>
          <p:cNvPr id="8" name="Text 5"/>
          <p:cNvSpPr/>
          <p:nvPr/>
        </p:nvSpPr>
        <p:spPr>
          <a:xfrm>
            <a:off x="6126480" y="1600200"/>
            <a:ext cx="2194560" cy="2468880"/>
          </a:xfrm>
          <a:prstGeom prst="rect">
            <a:avLst/>
          </a:prstGeom>
          <a:noFill/>
          <a:ln/>
        </p:spPr>
        <p:txBody>
          <a:bodyPr wrap="square" rtlCol="0" anchor="ctr"/>
          <a:lstStyle/>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Spa leads: 5,500 EGP from only 10 uses</a:t>
            </a:r>
            <a:endParaRPr lang="en-US" sz="1000" dirty="0"/>
          </a:p>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Highest revenue per use</a:t>
            </a:r>
            <a:endParaRPr lang="en-US" sz="1000" dirty="0"/>
          </a:p>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Laundry: high volume but lower per-use revenue</a:t>
            </a:r>
            <a:endParaRPr lang="en-US" sz="1000" dirty="0"/>
          </a:p>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Invest in Spa capacity</a:t>
            </a:r>
            <a:endParaRPr lang="en-US" sz="1000" dirty="0"/>
          </a:p>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Create Spa + Room packages for Suite guests</a:t>
            </a:r>
            <a:endParaRPr lang="en-US" sz="1000" dirty="0"/>
          </a:p>
        </p:txBody>
      </p:sp>
      <p:sp>
        <p:nvSpPr>
          <p:cNvPr id="9" name="Text 6"/>
          <p:cNvSpPr/>
          <p:nvPr/>
        </p:nvSpPr>
        <p:spPr>
          <a:xfrm>
            <a:off x="6126480" y="3931920"/>
            <a:ext cx="219456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Suggested Visual: Horizontal Bar</a:t>
            </a:r>
            <a:endParaRPr lang="en-US" sz="900" dirty="0"/>
          </a:p>
        </p:txBody>
      </p:sp>
      <p:sp>
        <p:nvSpPr>
          <p:cNvPr id="10" name="Shape 7"/>
          <p:cNvSpPr/>
          <p:nvPr/>
        </p:nvSpPr>
        <p:spPr>
          <a:xfrm>
            <a:off x="0" y="4754880"/>
            <a:ext cx="9144000" cy="388620"/>
          </a:xfrm>
          <a:prstGeom prst="rect">
            <a:avLst/>
          </a:prstGeom>
          <a:solidFill>
            <a:srgbClr val="0B2545"/>
          </a:solidFill>
          <a:ln/>
        </p:spPr>
      </p:sp>
      <p:sp>
        <p:nvSpPr>
          <p:cNvPr id="11" name="Text 8"/>
          <p:cNvSpPr/>
          <p:nvPr/>
        </p:nvSpPr>
        <p:spPr>
          <a:xfrm>
            <a:off x="457200" y="4773168"/>
            <a:ext cx="8229600" cy="36576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Hotel Reservation &amp; Billing Management System</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640080" y="320040"/>
            <a:ext cx="7315200" cy="548640"/>
          </a:xfrm>
          <a:prstGeom prst="rect">
            <a:avLst/>
          </a:prstGeom>
          <a:noFill/>
          <a:ln/>
        </p:spPr>
        <p:txBody>
          <a:bodyPr wrap="square" lIns="0" tIns="0" rIns="0" bIns="0" rtlCol="0" anchor="ctr"/>
          <a:lstStyle/>
          <a:p>
            <a:pPr indent="0" marL="0">
              <a:buNone/>
            </a:pPr>
            <a:r>
              <a:rPr lang="en-US" sz="2800" b="1" dirty="0">
                <a:solidFill>
                  <a:srgbClr val="0B2545"/>
                </a:solidFill>
                <a:latin typeface="Georgia" pitchFamily="34" charset="0"/>
                <a:ea typeface="Georgia" pitchFamily="34" charset="-122"/>
                <a:cs typeface="Georgia" pitchFamily="34" charset="-120"/>
              </a:rPr>
              <a:t>Correlation &amp; Relationships</a:t>
            </a:r>
            <a:endParaRPr lang="en-US" sz="2800" dirty="0"/>
          </a:p>
        </p:txBody>
      </p:sp>
      <p:sp>
        <p:nvSpPr>
          <p:cNvPr id="3" name="Shape 1"/>
          <p:cNvSpPr/>
          <p:nvPr/>
        </p:nvSpPr>
        <p:spPr>
          <a:xfrm>
            <a:off x="640080" y="868680"/>
            <a:ext cx="1097280" cy="36576"/>
          </a:xfrm>
          <a:prstGeom prst="rect">
            <a:avLst/>
          </a:prstGeom>
          <a:solidFill>
            <a:srgbClr val="0EA5E9"/>
          </a:solidFill>
          <a:ln/>
        </p:spPr>
      </p:sp>
      <p:sp>
        <p:nvSpPr>
          <p:cNvPr id="4" name="Text 2"/>
          <p:cNvSpPr/>
          <p:nvPr/>
        </p:nvSpPr>
        <p:spPr>
          <a:xfrm>
            <a:off x="1645920" y="868680"/>
            <a:ext cx="777240" cy="274320"/>
          </a:xfrm>
          <a:prstGeom prst="rect">
            <a:avLst/>
          </a:prstGeom>
          <a:noFill/>
          <a:ln/>
        </p:spPr>
        <p:txBody>
          <a:bodyPr wrap="square" lIns="0" tIns="0" rIns="0" bIns="0" rtlCol="0" anchor="ctr"/>
          <a:lstStyle/>
          <a:p>
            <a:pPr algn="ctr" indent="0" marL="0">
              <a:buNone/>
            </a:pPr>
            <a:r>
              <a:rPr lang="en-US" sz="800" dirty="0">
                <a:solidFill>
                  <a:srgbClr val="1E293B"/>
                </a:solidFill>
                <a:latin typeface="Calibri" pitchFamily="34" charset="0"/>
                <a:ea typeface="Calibri" pitchFamily="34" charset="-122"/>
                <a:cs typeface="Calibri" pitchFamily="34" charset="-120"/>
              </a:rPr>
              <a:t>nights</a:t>
            </a:r>
            <a:endParaRPr lang="en-US" sz="800" dirty="0"/>
          </a:p>
        </p:txBody>
      </p:sp>
      <p:sp>
        <p:nvSpPr>
          <p:cNvPr id="5" name="Text 3"/>
          <p:cNvSpPr/>
          <p:nvPr/>
        </p:nvSpPr>
        <p:spPr>
          <a:xfrm>
            <a:off x="457200" y="1188720"/>
            <a:ext cx="1188720" cy="502920"/>
          </a:xfrm>
          <a:prstGeom prst="rect">
            <a:avLst/>
          </a:prstGeom>
          <a:noFill/>
          <a:ln/>
        </p:spPr>
        <p:txBody>
          <a:bodyPr wrap="square" lIns="0" tIns="0" rIns="0" bIns="0" rtlCol="0" anchor="ctr"/>
          <a:lstStyle/>
          <a:p>
            <a:pPr algn="r" indent="0" marL="0">
              <a:buNone/>
            </a:pPr>
            <a:r>
              <a:rPr lang="en-US" sz="800" dirty="0">
                <a:solidFill>
                  <a:srgbClr val="1E293B"/>
                </a:solidFill>
                <a:latin typeface="Calibri" pitchFamily="34" charset="0"/>
                <a:ea typeface="Calibri" pitchFamily="34" charset="-122"/>
                <a:cs typeface="Calibri" pitchFamily="34" charset="-120"/>
              </a:rPr>
              <a:t>nights</a:t>
            </a:r>
            <a:endParaRPr lang="en-US" sz="800" dirty="0"/>
          </a:p>
        </p:txBody>
      </p:sp>
      <p:sp>
        <p:nvSpPr>
          <p:cNvPr id="6" name="Text 4"/>
          <p:cNvSpPr/>
          <p:nvPr/>
        </p:nvSpPr>
        <p:spPr>
          <a:xfrm>
            <a:off x="2423160" y="868680"/>
            <a:ext cx="777240" cy="274320"/>
          </a:xfrm>
          <a:prstGeom prst="rect">
            <a:avLst/>
          </a:prstGeom>
          <a:noFill/>
          <a:ln/>
        </p:spPr>
        <p:txBody>
          <a:bodyPr wrap="square" lIns="0" tIns="0" rIns="0" bIns="0" rtlCol="0" anchor="ctr"/>
          <a:lstStyle/>
          <a:p>
            <a:pPr algn="ctr" indent="0" marL="0">
              <a:buNone/>
            </a:pPr>
            <a:r>
              <a:rPr lang="en-US" sz="800" dirty="0">
                <a:solidFill>
                  <a:srgbClr val="1E293B"/>
                </a:solidFill>
                <a:latin typeface="Calibri" pitchFamily="34" charset="0"/>
                <a:ea typeface="Calibri" pitchFamily="34" charset="-122"/>
                <a:cs typeface="Calibri" pitchFamily="34" charset="-120"/>
              </a:rPr>
              <a:t>Total_Price</a:t>
            </a:r>
            <a:endParaRPr lang="en-US" sz="800" dirty="0"/>
          </a:p>
        </p:txBody>
      </p:sp>
      <p:sp>
        <p:nvSpPr>
          <p:cNvPr id="7" name="Text 5"/>
          <p:cNvSpPr/>
          <p:nvPr/>
        </p:nvSpPr>
        <p:spPr>
          <a:xfrm>
            <a:off x="457200" y="1691640"/>
            <a:ext cx="1188720" cy="502920"/>
          </a:xfrm>
          <a:prstGeom prst="rect">
            <a:avLst/>
          </a:prstGeom>
          <a:noFill/>
          <a:ln/>
        </p:spPr>
        <p:txBody>
          <a:bodyPr wrap="square" lIns="0" tIns="0" rIns="0" bIns="0" rtlCol="0" anchor="ctr"/>
          <a:lstStyle/>
          <a:p>
            <a:pPr algn="r" indent="0" marL="0">
              <a:buNone/>
            </a:pPr>
            <a:r>
              <a:rPr lang="en-US" sz="800" dirty="0">
                <a:solidFill>
                  <a:srgbClr val="1E293B"/>
                </a:solidFill>
                <a:latin typeface="Calibri" pitchFamily="34" charset="0"/>
                <a:ea typeface="Calibri" pitchFamily="34" charset="-122"/>
                <a:cs typeface="Calibri" pitchFamily="34" charset="-120"/>
              </a:rPr>
              <a:t>Total_Price</a:t>
            </a:r>
            <a:endParaRPr lang="en-US" sz="800" dirty="0"/>
          </a:p>
        </p:txBody>
      </p:sp>
      <p:sp>
        <p:nvSpPr>
          <p:cNvPr id="8" name="Text 6"/>
          <p:cNvSpPr/>
          <p:nvPr/>
        </p:nvSpPr>
        <p:spPr>
          <a:xfrm>
            <a:off x="3200400" y="868680"/>
            <a:ext cx="777240" cy="274320"/>
          </a:xfrm>
          <a:prstGeom prst="rect">
            <a:avLst/>
          </a:prstGeom>
          <a:noFill/>
          <a:ln/>
        </p:spPr>
        <p:txBody>
          <a:bodyPr wrap="square" lIns="0" tIns="0" rIns="0" bIns="0" rtlCol="0" anchor="ctr"/>
          <a:lstStyle/>
          <a:p>
            <a:pPr algn="ctr" indent="0" marL="0">
              <a:buNone/>
            </a:pPr>
            <a:r>
              <a:rPr lang="en-US" sz="800" dirty="0">
                <a:solidFill>
                  <a:srgbClr val="1E293B"/>
                </a:solidFill>
                <a:latin typeface="Calibri" pitchFamily="34" charset="0"/>
                <a:ea typeface="Calibri" pitchFamily="34" charset="-122"/>
                <a:cs typeface="Calibri" pitchFamily="34" charset="-120"/>
              </a:rPr>
              <a:t>NightlyRate</a:t>
            </a:r>
            <a:endParaRPr lang="en-US" sz="800" dirty="0"/>
          </a:p>
        </p:txBody>
      </p:sp>
      <p:sp>
        <p:nvSpPr>
          <p:cNvPr id="9" name="Text 7"/>
          <p:cNvSpPr/>
          <p:nvPr/>
        </p:nvSpPr>
        <p:spPr>
          <a:xfrm>
            <a:off x="457200" y="2194560"/>
            <a:ext cx="1188720" cy="502920"/>
          </a:xfrm>
          <a:prstGeom prst="rect">
            <a:avLst/>
          </a:prstGeom>
          <a:noFill/>
          <a:ln/>
        </p:spPr>
        <p:txBody>
          <a:bodyPr wrap="square" lIns="0" tIns="0" rIns="0" bIns="0" rtlCol="0" anchor="ctr"/>
          <a:lstStyle/>
          <a:p>
            <a:pPr algn="r" indent="0" marL="0">
              <a:buNone/>
            </a:pPr>
            <a:r>
              <a:rPr lang="en-US" sz="800" dirty="0">
                <a:solidFill>
                  <a:srgbClr val="1E293B"/>
                </a:solidFill>
                <a:latin typeface="Calibri" pitchFamily="34" charset="0"/>
                <a:ea typeface="Calibri" pitchFamily="34" charset="-122"/>
                <a:cs typeface="Calibri" pitchFamily="34" charset="-120"/>
              </a:rPr>
              <a:t>NightlyRate</a:t>
            </a:r>
            <a:endParaRPr lang="en-US" sz="800" dirty="0"/>
          </a:p>
        </p:txBody>
      </p:sp>
      <p:sp>
        <p:nvSpPr>
          <p:cNvPr id="10" name="Text 8"/>
          <p:cNvSpPr/>
          <p:nvPr/>
        </p:nvSpPr>
        <p:spPr>
          <a:xfrm>
            <a:off x="3977640" y="868680"/>
            <a:ext cx="777240" cy="274320"/>
          </a:xfrm>
          <a:prstGeom prst="rect">
            <a:avLst/>
          </a:prstGeom>
          <a:noFill/>
          <a:ln/>
        </p:spPr>
        <p:txBody>
          <a:bodyPr wrap="square" lIns="0" tIns="0" rIns="0" bIns="0" rtlCol="0" anchor="ctr"/>
          <a:lstStyle/>
          <a:p>
            <a:pPr algn="ctr" indent="0" marL="0">
              <a:buNone/>
            </a:pPr>
            <a:r>
              <a:rPr lang="en-US" sz="800" dirty="0">
                <a:solidFill>
                  <a:srgbClr val="1E293B"/>
                </a:solidFill>
                <a:latin typeface="Calibri" pitchFamily="34" charset="0"/>
                <a:ea typeface="Calibri" pitchFamily="34" charset="-122"/>
                <a:cs typeface="Calibri" pitchFamily="34" charset="-120"/>
              </a:rPr>
              <a:t>Adults</a:t>
            </a:r>
            <a:endParaRPr lang="en-US" sz="800" dirty="0"/>
          </a:p>
        </p:txBody>
      </p:sp>
      <p:sp>
        <p:nvSpPr>
          <p:cNvPr id="11" name="Text 9"/>
          <p:cNvSpPr/>
          <p:nvPr/>
        </p:nvSpPr>
        <p:spPr>
          <a:xfrm>
            <a:off x="457200" y="2697480"/>
            <a:ext cx="1188720" cy="502920"/>
          </a:xfrm>
          <a:prstGeom prst="rect">
            <a:avLst/>
          </a:prstGeom>
          <a:noFill/>
          <a:ln/>
        </p:spPr>
        <p:txBody>
          <a:bodyPr wrap="square" lIns="0" tIns="0" rIns="0" bIns="0" rtlCol="0" anchor="ctr"/>
          <a:lstStyle/>
          <a:p>
            <a:pPr algn="r" indent="0" marL="0">
              <a:buNone/>
            </a:pPr>
            <a:r>
              <a:rPr lang="en-US" sz="800" dirty="0">
                <a:solidFill>
                  <a:srgbClr val="1E293B"/>
                </a:solidFill>
                <a:latin typeface="Calibri" pitchFamily="34" charset="0"/>
                <a:ea typeface="Calibri" pitchFamily="34" charset="-122"/>
                <a:cs typeface="Calibri" pitchFamily="34" charset="-120"/>
              </a:rPr>
              <a:t>Adults</a:t>
            </a:r>
            <a:endParaRPr lang="en-US" sz="800" dirty="0"/>
          </a:p>
        </p:txBody>
      </p:sp>
      <p:sp>
        <p:nvSpPr>
          <p:cNvPr id="12" name="Text 10"/>
          <p:cNvSpPr/>
          <p:nvPr/>
        </p:nvSpPr>
        <p:spPr>
          <a:xfrm>
            <a:off x="4754880" y="868680"/>
            <a:ext cx="777240" cy="274320"/>
          </a:xfrm>
          <a:prstGeom prst="rect">
            <a:avLst/>
          </a:prstGeom>
          <a:noFill/>
          <a:ln/>
        </p:spPr>
        <p:txBody>
          <a:bodyPr wrap="square" lIns="0" tIns="0" rIns="0" bIns="0" rtlCol="0" anchor="ctr"/>
          <a:lstStyle/>
          <a:p>
            <a:pPr algn="ctr" indent="0" marL="0">
              <a:buNone/>
            </a:pPr>
            <a:r>
              <a:rPr lang="en-US" sz="800" dirty="0">
                <a:solidFill>
                  <a:srgbClr val="1E293B"/>
                </a:solidFill>
                <a:latin typeface="Calibri" pitchFamily="34" charset="0"/>
                <a:ea typeface="Calibri" pitchFamily="34" charset="-122"/>
                <a:cs typeface="Calibri" pitchFamily="34" charset="-120"/>
              </a:rPr>
              <a:t>Discounts</a:t>
            </a:r>
            <a:endParaRPr lang="en-US" sz="800" dirty="0"/>
          </a:p>
        </p:txBody>
      </p:sp>
      <p:sp>
        <p:nvSpPr>
          <p:cNvPr id="13" name="Text 11"/>
          <p:cNvSpPr/>
          <p:nvPr/>
        </p:nvSpPr>
        <p:spPr>
          <a:xfrm>
            <a:off x="457200" y="3200400"/>
            <a:ext cx="1188720" cy="502920"/>
          </a:xfrm>
          <a:prstGeom prst="rect">
            <a:avLst/>
          </a:prstGeom>
          <a:noFill/>
          <a:ln/>
        </p:spPr>
        <p:txBody>
          <a:bodyPr wrap="square" lIns="0" tIns="0" rIns="0" bIns="0" rtlCol="0" anchor="ctr"/>
          <a:lstStyle/>
          <a:p>
            <a:pPr algn="r" indent="0" marL="0">
              <a:buNone/>
            </a:pPr>
            <a:r>
              <a:rPr lang="en-US" sz="800" dirty="0">
                <a:solidFill>
                  <a:srgbClr val="1E293B"/>
                </a:solidFill>
                <a:latin typeface="Calibri" pitchFamily="34" charset="0"/>
                <a:ea typeface="Calibri" pitchFamily="34" charset="-122"/>
                <a:cs typeface="Calibri" pitchFamily="34" charset="-120"/>
              </a:rPr>
              <a:t>Discounts</a:t>
            </a:r>
            <a:endParaRPr lang="en-US" sz="800" dirty="0"/>
          </a:p>
        </p:txBody>
      </p:sp>
      <p:sp>
        <p:nvSpPr>
          <p:cNvPr id="14" name="Shape 12"/>
          <p:cNvSpPr/>
          <p:nvPr/>
        </p:nvSpPr>
        <p:spPr>
          <a:xfrm>
            <a:off x="1645920" y="1188720"/>
            <a:ext cx="777240" cy="502920"/>
          </a:xfrm>
          <a:prstGeom prst="rect">
            <a:avLst/>
          </a:prstGeom>
          <a:solidFill>
            <a:srgbClr val="0B2545"/>
          </a:solidFill>
          <a:ln w="12700">
            <a:solidFill>
              <a:srgbClr val="FFFFFF"/>
            </a:solidFill>
            <a:prstDash val="solid"/>
          </a:ln>
        </p:spPr>
      </p:sp>
      <p:sp>
        <p:nvSpPr>
          <p:cNvPr id="15" name="Text 13"/>
          <p:cNvSpPr/>
          <p:nvPr/>
        </p:nvSpPr>
        <p:spPr>
          <a:xfrm>
            <a:off x="1645920" y="1188720"/>
            <a:ext cx="777240" cy="5029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1.0</a:t>
            </a:r>
            <a:endParaRPr lang="en-US" sz="1000" dirty="0"/>
          </a:p>
        </p:txBody>
      </p:sp>
      <p:sp>
        <p:nvSpPr>
          <p:cNvPr id="16" name="Shape 14"/>
          <p:cNvSpPr/>
          <p:nvPr/>
        </p:nvSpPr>
        <p:spPr>
          <a:xfrm>
            <a:off x="2423160" y="1188720"/>
            <a:ext cx="777240" cy="502920"/>
          </a:xfrm>
          <a:prstGeom prst="rect">
            <a:avLst/>
          </a:prstGeom>
          <a:solidFill>
            <a:srgbClr val="0B2545"/>
          </a:solidFill>
          <a:ln w="12700">
            <a:solidFill>
              <a:srgbClr val="FFFFFF"/>
            </a:solidFill>
            <a:prstDash val="solid"/>
          </a:ln>
        </p:spPr>
      </p:sp>
      <p:sp>
        <p:nvSpPr>
          <p:cNvPr id="17" name="Text 15"/>
          <p:cNvSpPr/>
          <p:nvPr/>
        </p:nvSpPr>
        <p:spPr>
          <a:xfrm>
            <a:off x="2423160" y="1188720"/>
            <a:ext cx="777240" cy="5029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0.9</a:t>
            </a:r>
            <a:endParaRPr lang="en-US" sz="1000" dirty="0"/>
          </a:p>
        </p:txBody>
      </p:sp>
      <p:sp>
        <p:nvSpPr>
          <p:cNvPr id="18" name="Shape 16"/>
          <p:cNvSpPr/>
          <p:nvPr/>
        </p:nvSpPr>
        <p:spPr>
          <a:xfrm>
            <a:off x="3200400" y="1188720"/>
            <a:ext cx="777240" cy="502920"/>
          </a:xfrm>
          <a:prstGeom prst="rect">
            <a:avLst/>
          </a:prstGeom>
          <a:solidFill>
            <a:srgbClr val="E8F4F8"/>
          </a:solidFill>
          <a:ln w="12700">
            <a:solidFill>
              <a:srgbClr val="FFFFFF"/>
            </a:solidFill>
            <a:prstDash val="solid"/>
          </a:ln>
        </p:spPr>
      </p:sp>
      <p:sp>
        <p:nvSpPr>
          <p:cNvPr id="19" name="Text 17"/>
          <p:cNvSpPr/>
          <p:nvPr/>
        </p:nvSpPr>
        <p:spPr>
          <a:xfrm>
            <a:off x="3200400" y="1188720"/>
            <a:ext cx="777240" cy="502920"/>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0.1</a:t>
            </a:r>
            <a:endParaRPr lang="en-US" sz="1000" dirty="0"/>
          </a:p>
        </p:txBody>
      </p:sp>
      <p:sp>
        <p:nvSpPr>
          <p:cNvPr id="20" name="Shape 18"/>
          <p:cNvSpPr/>
          <p:nvPr/>
        </p:nvSpPr>
        <p:spPr>
          <a:xfrm>
            <a:off x="3977640" y="1188720"/>
            <a:ext cx="777240" cy="502920"/>
          </a:xfrm>
          <a:prstGeom prst="rect">
            <a:avLst/>
          </a:prstGeom>
          <a:solidFill>
            <a:srgbClr val="7FBED0"/>
          </a:solidFill>
          <a:ln w="12700">
            <a:solidFill>
              <a:srgbClr val="FFFFFF"/>
            </a:solidFill>
            <a:prstDash val="solid"/>
          </a:ln>
        </p:spPr>
      </p:sp>
      <p:sp>
        <p:nvSpPr>
          <p:cNvPr id="21" name="Text 19"/>
          <p:cNvSpPr/>
          <p:nvPr/>
        </p:nvSpPr>
        <p:spPr>
          <a:xfrm>
            <a:off x="3977640" y="1188720"/>
            <a:ext cx="777240" cy="502920"/>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0.2</a:t>
            </a:r>
            <a:endParaRPr lang="en-US" sz="1000" dirty="0"/>
          </a:p>
        </p:txBody>
      </p:sp>
      <p:sp>
        <p:nvSpPr>
          <p:cNvPr id="22" name="Shape 20"/>
          <p:cNvSpPr/>
          <p:nvPr/>
        </p:nvSpPr>
        <p:spPr>
          <a:xfrm>
            <a:off x="4754880" y="1188720"/>
            <a:ext cx="777240" cy="502920"/>
          </a:xfrm>
          <a:prstGeom prst="rect">
            <a:avLst/>
          </a:prstGeom>
          <a:solidFill>
            <a:srgbClr val="E8F4F8"/>
          </a:solidFill>
          <a:ln w="12700">
            <a:solidFill>
              <a:srgbClr val="FFFFFF"/>
            </a:solidFill>
            <a:prstDash val="solid"/>
          </a:ln>
        </p:spPr>
      </p:sp>
      <p:sp>
        <p:nvSpPr>
          <p:cNvPr id="23" name="Text 21"/>
          <p:cNvSpPr/>
          <p:nvPr/>
        </p:nvSpPr>
        <p:spPr>
          <a:xfrm>
            <a:off x="4754880" y="1188720"/>
            <a:ext cx="777240" cy="502920"/>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0.1</a:t>
            </a:r>
            <a:endParaRPr lang="en-US" sz="1000" dirty="0"/>
          </a:p>
        </p:txBody>
      </p:sp>
      <p:sp>
        <p:nvSpPr>
          <p:cNvPr id="24" name="Shape 22"/>
          <p:cNvSpPr/>
          <p:nvPr/>
        </p:nvSpPr>
        <p:spPr>
          <a:xfrm>
            <a:off x="1645920" y="1691640"/>
            <a:ext cx="777240" cy="502920"/>
          </a:xfrm>
          <a:prstGeom prst="rect">
            <a:avLst/>
          </a:prstGeom>
          <a:solidFill>
            <a:srgbClr val="0B2545"/>
          </a:solidFill>
          <a:ln w="12700">
            <a:solidFill>
              <a:srgbClr val="FFFFFF"/>
            </a:solidFill>
            <a:prstDash val="solid"/>
          </a:ln>
        </p:spPr>
      </p:sp>
      <p:sp>
        <p:nvSpPr>
          <p:cNvPr id="25" name="Text 23"/>
          <p:cNvSpPr/>
          <p:nvPr/>
        </p:nvSpPr>
        <p:spPr>
          <a:xfrm>
            <a:off x="1645920" y="1691640"/>
            <a:ext cx="777240" cy="5029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0.9</a:t>
            </a:r>
            <a:endParaRPr lang="en-US" sz="1000" dirty="0"/>
          </a:p>
        </p:txBody>
      </p:sp>
      <p:sp>
        <p:nvSpPr>
          <p:cNvPr id="26" name="Shape 24"/>
          <p:cNvSpPr/>
          <p:nvPr/>
        </p:nvSpPr>
        <p:spPr>
          <a:xfrm>
            <a:off x="2423160" y="1691640"/>
            <a:ext cx="777240" cy="502920"/>
          </a:xfrm>
          <a:prstGeom prst="rect">
            <a:avLst/>
          </a:prstGeom>
          <a:solidFill>
            <a:srgbClr val="0B2545"/>
          </a:solidFill>
          <a:ln w="12700">
            <a:solidFill>
              <a:srgbClr val="FFFFFF"/>
            </a:solidFill>
            <a:prstDash val="solid"/>
          </a:ln>
        </p:spPr>
      </p:sp>
      <p:sp>
        <p:nvSpPr>
          <p:cNvPr id="27" name="Text 25"/>
          <p:cNvSpPr/>
          <p:nvPr/>
        </p:nvSpPr>
        <p:spPr>
          <a:xfrm>
            <a:off x="2423160" y="1691640"/>
            <a:ext cx="777240" cy="5029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1.0</a:t>
            </a:r>
            <a:endParaRPr lang="en-US" sz="1000" dirty="0"/>
          </a:p>
        </p:txBody>
      </p:sp>
      <p:sp>
        <p:nvSpPr>
          <p:cNvPr id="28" name="Shape 26"/>
          <p:cNvSpPr/>
          <p:nvPr/>
        </p:nvSpPr>
        <p:spPr>
          <a:xfrm>
            <a:off x="3200400" y="1691640"/>
            <a:ext cx="777240" cy="502920"/>
          </a:xfrm>
          <a:prstGeom prst="rect">
            <a:avLst/>
          </a:prstGeom>
          <a:solidFill>
            <a:srgbClr val="065A82"/>
          </a:solidFill>
          <a:ln w="12700">
            <a:solidFill>
              <a:srgbClr val="FFFFFF"/>
            </a:solidFill>
            <a:prstDash val="solid"/>
          </a:ln>
        </p:spPr>
      </p:sp>
      <p:sp>
        <p:nvSpPr>
          <p:cNvPr id="29" name="Text 27"/>
          <p:cNvSpPr/>
          <p:nvPr/>
        </p:nvSpPr>
        <p:spPr>
          <a:xfrm>
            <a:off x="3200400" y="1691640"/>
            <a:ext cx="777240" cy="5029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0.6</a:t>
            </a:r>
            <a:endParaRPr lang="en-US" sz="1000" dirty="0"/>
          </a:p>
        </p:txBody>
      </p:sp>
      <p:sp>
        <p:nvSpPr>
          <p:cNvPr id="30" name="Shape 28"/>
          <p:cNvSpPr/>
          <p:nvPr/>
        </p:nvSpPr>
        <p:spPr>
          <a:xfrm>
            <a:off x="3977640" y="1691640"/>
            <a:ext cx="777240" cy="502920"/>
          </a:xfrm>
          <a:prstGeom prst="rect">
            <a:avLst/>
          </a:prstGeom>
          <a:solidFill>
            <a:srgbClr val="7FBED0"/>
          </a:solidFill>
          <a:ln w="12700">
            <a:solidFill>
              <a:srgbClr val="FFFFFF"/>
            </a:solidFill>
            <a:prstDash val="solid"/>
          </a:ln>
        </p:spPr>
      </p:sp>
      <p:sp>
        <p:nvSpPr>
          <p:cNvPr id="31" name="Text 29"/>
          <p:cNvSpPr/>
          <p:nvPr/>
        </p:nvSpPr>
        <p:spPr>
          <a:xfrm>
            <a:off x="3977640" y="1691640"/>
            <a:ext cx="777240" cy="502920"/>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0.2</a:t>
            </a:r>
            <a:endParaRPr lang="en-US" sz="1000" dirty="0"/>
          </a:p>
        </p:txBody>
      </p:sp>
      <p:sp>
        <p:nvSpPr>
          <p:cNvPr id="32" name="Shape 30"/>
          <p:cNvSpPr/>
          <p:nvPr/>
        </p:nvSpPr>
        <p:spPr>
          <a:xfrm>
            <a:off x="4754880" y="1691640"/>
            <a:ext cx="777240" cy="502920"/>
          </a:xfrm>
          <a:prstGeom prst="rect">
            <a:avLst/>
          </a:prstGeom>
          <a:solidFill>
            <a:srgbClr val="E8F4F8"/>
          </a:solidFill>
          <a:ln w="12700">
            <a:solidFill>
              <a:srgbClr val="FFFFFF"/>
            </a:solidFill>
            <a:prstDash val="solid"/>
          </a:ln>
        </p:spPr>
      </p:sp>
      <p:sp>
        <p:nvSpPr>
          <p:cNvPr id="33" name="Text 31"/>
          <p:cNvSpPr/>
          <p:nvPr/>
        </p:nvSpPr>
        <p:spPr>
          <a:xfrm>
            <a:off x="4754880" y="1691640"/>
            <a:ext cx="777240" cy="502920"/>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0.1</a:t>
            </a:r>
            <a:endParaRPr lang="en-US" sz="1000" dirty="0"/>
          </a:p>
        </p:txBody>
      </p:sp>
      <p:sp>
        <p:nvSpPr>
          <p:cNvPr id="34" name="Shape 32"/>
          <p:cNvSpPr/>
          <p:nvPr/>
        </p:nvSpPr>
        <p:spPr>
          <a:xfrm>
            <a:off x="1645920" y="2194560"/>
            <a:ext cx="777240" cy="502920"/>
          </a:xfrm>
          <a:prstGeom prst="rect">
            <a:avLst/>
          </a:prstGeom>
          <a:solidFill>
            <a:srgbClr val="E8F4F8"/>
          </a:solidFill>
          <a:ln w="12700">
            <a:solidFill>
              <a:srgbClr val="FFFFFF"/>
            </a:solidFill>
            <a:prstDash val="solid"/>
          </a:ln>
        </p:spPr>
      </p:sp>
      <p:sp>
        <p:nvSpPr>
          <p:cNvPr id="35" name="Text 33"/>
          <p:cNvSpPr/>
          <p:nvPr/>
        </p:nvSpPr>
        <p:spPr>
          <a:xfrm>
            <a:off x="1645920" y="2194560"/>
            <a:ext cx="777240" cy="502920"/>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0.1</a:t>
            </a:r>
            <a:endParaRPr lang="en-US" sz="1000" dirty="0"/>
          </a:p>
        </p:txBody>
      </p:sp>
      <p:sp>
        <p:nvSpPr>
          <p:cNvPr id="36" name="Shape 34"/>
          <p:cNvSpPr/>
          <p:nvPr/>
        </p:nvSpPr>
        <p:spPr>
          <a:xfrm>
            <a:off x="2423160" y="2194560"/>
            <a:ext cx="777240" cy="502920"/>
          </a:xfrm>
          <a:prstGeom prst="rect">
            <a:avLst/>
          </a:prstGeom>
          <a:solidFill>
            <a:srgbClr val="065A82"/>
          </a:solidFill>
          <a:ln w="12700">
            <a:solidFill>
              <a:srgbClr val="FFFFFF"/>
            </a:solidFill>
            <a:prstDash val="solid"/>
          </a:ln>
        </p:spPr>
      </p:sp>
      <p:sp>
        <p:nvSpPr>
          <p:cNvPr id="37" name="Text 35"/>
          <p:cNvSpPr/>
          <p:nvPr/>
        </p:nvSpPr>
        <p:spPr>
          <a:xfrm>
            <a:off x="2423160" y="2194560"/>
            <a:ext cx="777240" cy="5029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0.6</a:t>
            </a:r>
            <a:endParaRPr lang="en-US" sz="1000" dirty="0"/>
          </a:p>
        </p:txBody>
      </p:sp>
      <p:sp>
        <p:nvSpPr>
          <p:cNvPr id="38" name="Shape 36"/>
          <p:cNvSpPr/>
          <p:nvPr/>
        </p:nvSpPr>
        <p:spPr>
          <a:xfrm>
            <a:off x="3200400" y="2194560"/>
            <a:ext cx="777240" cy="502920"/>
          </a:xfrm>
          <a:prstGeom prst="rect">
            <a:avLst/>
          </a:prstGeom>
          <a:solidFill>
            <a:srgbClr val="0B2545"/>
          </a:solidFill>
          <a:ln w="12700">
            <a:solidFill>
              <a:srgbClr val="FFFFFF"/>
            </a:solidFill>
            <a:prstDash val="solid"/>
          </a:ln>
        </p:spPr>
      </p:sp>
      <p:sp>
        <p:nvSpPr>
          <p:cNvPr id="39" name="Text 37"/>
          <p:cNvSpPr/>
          <p:nvPr/>
        </p:nvSpPr>
        <p:spPr>
          <a:xfrm>
            <a:off x="3200400" y="2194560"/>
            <a:ext cx="777240" cy="5029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1.0</a:t>
            </a:r>
            <a:endParaRPr lang="en-US" sz="1000" dirty="0"/>
          </a:p>
        </p:txBody>
      </p:sp>
      <p:sp>
        <p:nvSpPr>
          <p:cNvPr id="40" name="Shape 38"/>
          <p:cNvSpPr/>
          <p:nvPr/>
        </p:nvSpPr>
        <p:spPr>
          <a:xfrm>
            <a:off x="3977640" y="2194560"/>
            <a:ext cx="777240" cy="502920"/>
          </a:xfrm>
          <a:prstGeom prst="rect">
            <a:avLst/>
          </a:prstGeom>
          <a:solidFill>
            <a:srgbClr val="E8F4F8"/>
          </a:solidFill>
          <a:ln w="12700">
            <a:solidFill>
              <a:srgbClr val="FFFFFF"/>
            </a:solidFill>
            <a:prstDash val="solid"/>
          </a:ln>
        </p:spPr>
      </p:sp>
      <p:sp>
        <p:nvSpPr>
          <p:cNvPr id="41" name="Text 39"/>
          <p:cNvSpPr/>
          <p:nvPr/>
        </p:nvSpPr>
        <p:spPr>
          <a:xfrm>
            <a:off x="3977640" y="2194560"/>
            <a:ext cx="777240" cy="502920"/>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0.1</a:t>
            </a:r>
            <a:endParaRPr lang="en-US" sz="1000" dirty="0"/>
          </a:p>
        </p:txBody>
      </p:sp>
      <p:sp>
        <p:nvSpPr>
          <p:cNvPr id="42" name="Shape 40"/>
          <p:cNvSpPr/>
          <p:nvPr/>
        </p:nvSpPr>
        <p:spPr>
          <a:xfrm>
            <a:off x="4754880" y="2194560"/>
            <a:ext cx="777240" cy="502920"/>
          </a:xfrm>
          <a:prstGeom prst="rect">
            <a:avLst/>
          </a:prstGeom>
          <a:solidFill>
            <a:srgbClr val="E8F4F8"/>
          </a:solidFill>
          <a:ln w="12700">
            <a:solidFill>
              <a:srgbClr val="FFFFFF"/>
            </a:solidFill>
            <a:prstDash val="solid"/>
          </a:ln>
        </p:spPr>
      </p:sp>
      <p:sp>
        <p:nvSpPr>
          <p:cNvPr id="43" name="Text 41"/>
          <p:cNvSpPr/>
          <p:nvPr/>
        </p:nvSpPr>
        <p:spPr>
          <a:xfrm>
            <a:off x="4754880" y="2194560"/>
            <a:ext cx="777240" cy="502920"/>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0.1</a:t>
            </a:r>
            <a:endParaRPr lang="en-US" sz="1000" dirty="0"/>
          </a:p>
        </p:txBody>
      </p:sp>
      <p:sp>
        <p:nvSpPr>
          <p:cNvPr id="44" name="Shape 42"/>
          <p:cNvSpPr/>
          <p:nvPr/>
        </p:nvSpPr>
        <p:spPr>
          <a:xfrm>
            <a:off x="1645920" y="2697480"/>
            <a:ext cx="777240" cy="502920"/>
          </a:xfrm>
          <a:prstGeom prst="rect">
            <a:avLst/>
          </a:prstGeom>
          <a:solidFill>
            <a:srgbClr val="7FBED0"/>
          </a:solidFill>
          <a:ln w="12700">
            <a:solidFill>
              <a:srgbClr val="FFFFFF"/>
            </a:solidFill>
            <a:prstDash val="solid"/>
          </a:ln>
        </p:spPr>
      </p:sp>
      <p:sp>
        <p:nvSpPr>
          <p:cNvPr id="45" name="Text 43"/>
          <p:cNvSpPr/>
          <p:nvPr/>
        </p:nvSpPr>
        <p:spPr>
          <a:xfrm>
            <a:off x="1645920" y="2697480"/>
            <a:ext cx="777240" cy="502920"/>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0.2</a:t>
            </a:r>
            <a:endParaRPr lang="en-US" sz="1000" dirty="0"/>
          </a:p>
        </p:txBody>
      </p:sp>
      <p:sp>
        <p:nvSpPr>
          <p:cNvPr id="46" name="Shape 44"/>
          <p:cNvSpPr/>
          <p:nvPr/>
        </p:nvSpPr>
        <p:spPr>
          <a:xfrm>
            <a:off x="2423160" y="2697480"/>
            <a:ext cx="777240" cy="502920"/>
          </a:xfrm>
          <a:prstGeom prst="rect">
            <a:avLst/>
          </a:prstGeom>
          <a:solidFill>
            <a:srgbClr val="7FBED0"/>
          </a:solidFill>
          <a:ln w="12700">
            <a:solidFill>
              <a:srgbClr val="FFFFFF"/>
            </a:solidFill>
            <a:prstDash val="solid"/>
          </a:ln>
        </p:spPr>
      </p:sp>
      <p:sp>
        <p:nvSpPr>
          <p:cNvPr id="47" name="Text 45"/>
          <p:cNvSpPr/>
          <p:nvPr/>
        </p:nvSpPr>
        <p:spPr>
          <a:xfrm>
            <a:off x="2423160" y="2697480"/>
            <a:ext cx="777240" cy="502920"/>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0.2</a:t>
            </a:r>
            <a:endParaRPr lang="en-US" sz="1000" dirty="0"/>
          </a:p>
        </p:txBody>
      </p:sp>
      <p:sp>
        <p:nvSpPr>
          <p:cNvPr id="48" name="Shape 46"/>
          <p:cNvSpPr/>
          <p:nvPr/>
        </p:nvSpPr>
        <p:spPr>
          <a:xfrm>
            <a:off x="3200400" y="2697480"/>
            <a:ext cx="777240" cy="502920"/>
          </a:xfrm>
          <a:prstGeom prst="rect">
            <a:avLst/>
          </a:prstGeom>
          <a:solidFill>
            <a:srgbClr val="E8F4F8"/>
          </a:solidFill>
          <a:ln w="12700">
            <a:solidFill>
              <a:srgbClr val="FFFFFF"/>
            </a:solidFill>
            <a:prstDash val="solid"/>
          </a:ln>
        </p:spPr>
      </p:sp>
      <p:sp>
        <p:nvSpPr>
          <p:cNvPr id="49" name="Text 47"/>
          <p:cNvSpPr/>
          <p:nvPr/>
        </p:nvSpPr>
        <p:spPr>
          <a:xfrm>
            <a:off x="3200400" y="2697480"/>
            <a:ext cx="777240" cy="502920"/>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0.1</a:t>
            </a:r>
            <a:endParaRPr lang="en-US" sz="1000" dirty="0"/>
          </a:p>
        </p:txBody>
      </p:sp>
      <p:sp>
        <p:nvSpPr>
          <p:cNvPr id="50" name="Shape 48"/>
          <p:cNvSpPr/>
          <p:nvPr/>
        </p:nvSpPr>
        <p:spPr>
          <a:xfrm>
            <a:off x="3977640" y="2697480"/>
            <a:ext cx="777240" cy="502920"/>
          </a:xfrm>
          <a:prstGeom prst="rect">
            <a:avLst/>
          </a:prstGeom>
          <a:solidFill>
            <a:srgbClr val="0B2545"/>
          </a:solidFill>
          <a:ln w="12700">
            <a:solidFill>
              <a:srgbClr val="FFFFFF"/>
            </a:solidFill>
            <a:prstDash val="solid"/>
          </a:ln>
        </p:spPr>
      </p:sp>
      <p:sp>
        <p:nvSpPr>
          <p:cNvPr id="51" name="Text 49"/>
          <p:cNvSpPr/>
          <p:nvPr/>
        </p:nvSpPr>
        <p:spPr>
          <a:xfrm>
            <a:off x="3977640" y="2697480"/>
            <a:ext cx="777240" cy="5029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1.0</a:t>
            </a:r>
            <a:endParaRPr lang="en-US" sz="1000" dirty="0"/>
          </a:p>
        </p:txBody>
      </p:sp>
      <p:sp>
        <p:nvSpPr>
          <p:cNvPr id="52" name="Shape 50"/>
          <p:cNvSpPr/>
          <p:nvPr/>
        </p:nvSpPr>
        <p:spPr>
          <a:xfrm>
            <a:off x="4754880" y="2697480"/>
            <a:ext cx="777240" cy="502920"/>
          </a:xfrm>
          <a:prstGeom prst="rect">
            <a:avLst/>
          </a:prstGeom>
          <a:solidFill>
            <a:srgbClr val="E8F4F8"/>
          </a:solidFill>
          <a:ln w="12700">
            <a:solidFill>
              <a:srgbClr val="FFFFFF"/>
            </a:solidFill>
            <a:prstDash val="solid"/>
          </a:ln>
        </p:spPr>
      </p:sp>
      <p:sp>
        <p:nvSpPr>
          <p:cNvPr id="53" name="Text 51"/>
          <p:cNvSpPr/>
          <p:nvPr/>
        </p:nvSpPr>
        <p:spPr>
          <a:xfrm>
            <a:off x="4754880" y="2697480"/>
            <a:ext cx="777240" cy="502920"/>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0.0</a:t>
            </a:r>
            <a:endParaRPr lang="en-US" sz="1000" dirty="0"/>
          </a:p>
        </p:txBody>
      </p:sp>
      <p:sp>
        <p:nvSpPr>
          <p:cNvPr id="54" name="Shape 52"/>
          <p:cNvSpPr/>
          <p:nvPr/>
        </p:nvSpPr>
        <p:spPr>
          <a:xfrm>
            <a:off x="1645920" y="3200400"/>
            <a:ext cx="777240" cy="502920"/>
          </a:xfrm>
          <a:prstGeom prst="rect">
            <a:avLst/>
          </a:prstGeom>
          <a:solidFill>
            <a:srgbClr val="E8F4F8"/>
          </a:solidFill>
          <a:ln w="12700">
            <a:solidFill>
              <a:srgbClr val="FFFFFF"/>
            </a:solidFill>
            <a:prstDash val="solid"/>
          </a:ln>
        </p:spPr>
      </p:sp>
      <p:sp>
        <p:nvSpPr>
          <p:cNvPr id="55" name="Text 53"/>
          <p:cNvSpPr/>
          <p:nvPr/>
        </p:nvSpPr>
        <p:spPr>
          <a:xfrm>
            <a:off x="1645920" y="3200400"/>
            <a:ext cx="777240" cy="502920"/>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0.1</a:t>
            </a:r>
            <a:endParaRPr lang="en-US" sz="1000" dirty="0"/>
          </a:p>
        </p:txBody>
      </p:sp>
      <p:sp>
        <p:nvSpPr>
          <p:cNvPr id="56" name="Shape 54"/>
          <p:cNvSpPr/>
          <p:nvPr/>
        </p:nvSpPr>
        <p:spPr>
          <a:xfrm>
            <a:off x="2423160" y="3200400"/>
            <a:ext cx="777240" cy="502920"/>
          </a:xfrm>
          <a:prstGeom prst="rect">
            <a:avLst/>
          </a:prstGeom>
          <a:solidFill>
            <a:srgbClr val="E8F4F8"/>
          </a:solidFill>
          <a:ln w="12700">
            <a:solidFill>
              <a:srgbClr val="FFFFFF"/>
            </a:solidFill>
            <a:prstDash val="solid"/>
          </a:ln>
        </p:spPr>
      </p:sp>
      <p:sp>
        <p:nvSpPr>
          <p:cNvPr id="57" name="Text 55"/>
          <p:cNvSpPr/>
          <p:nvPr/>
        </p:nvSpPr>
        <p:spPr>
          <a:xfrm>
            <a:off x="2423160" y="3200400"/>
            <a:ext cx="777240" cy="502920"/>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0.1</a:t>
            </a:r>
            <a:endParaRPr lang="en-US" sz="1000" dirty="0"/>
          </a:p>
        </p:txBody>
      </p:sp>
      <p:sp>
        <p:nvSpPr>
          <p:cNvPr id="58" name="Shape 56"/>
          <p:cNvSpPr/>
          <p:nvPr/>
        </p:nvSpPr>
        <p:spPr>
          <a:xfrm>
            <a:off x="3200400" y="3200400"/>
            <a:ext cx="777240" cy="502920"/>
          </a:xfrm>
          <a:prstGeom prst="rect">
            <a:avLst/>
          </a:prstGeom>
          <a:solidFill>
            <a:srgbClr val="E8F4F8"/>
          </a:solidFill>
          <a:ln w="12700">
            <a:solidFill>
              <a:srgbClr val="FFFFFF"/>
            </a:solidFill>
            <a:prstDash val="solid"/>
          </a:ln>
        </p:spPr>
      </p:sp>
      <p:sp>
        <p:nvSpPr>
          <p:cNvPr id="59" name="Text 57"/>
          <p:cNvSpPr/>
          <p:nvPr/>
        </p:nvSpPr>
        <p:spPr>
          <a:xfrm>
            <a:off x="3200400" y="3200400"/>
            <a:ext cx="777240" cy="502920"/>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0.1</a:t>
            </a:r>
            <a:endParaRPr lang="en-US" sz="1000" dirty="0"/>
          </a:p>
        </p:txBody>
      </p:sp>
      <p:sp>
        <p:nvSpPr>
          <p:cNvPr id="60" name="Shape 58"/>
          <p:cNvSpPr/>
          <p:nvPr/>
        </p:nvSpPr>
        <p:spPr>
          <a:xfrm>
            <a:off x="3977640" y="3200400"/>
            <a:ext cx="777240" cy="502920"/>
          </a:xfrm>
          <a:prstGeom prst="rect">
            <a:avLst/>
          </a:prstGeom>
          <a:solidFill>
            <a:srgbClr val="E8F4F8"/>
          </a:solidFill>
          <a:ln w="12700">
            <a:solidFill>
              <a:srgbClr val="FFFFFF"/>
            </a:solidFill>
            <a:prstDash val="solid"/>
          </a:ln>
        </p:spPr>
      </p:sp>
      <p:sp>
        <p:nvSpPr>
          <p:cNvPr id="61" name="Text 59"/>
          <p:cNvSpPr/>
          <p:nvPr/>
        </p:nvSpPr>
        <p:spPr>
          <a:xfrm>
            <a:off x="3977640" y="3200400"/>
            <a:ext cx="777240" cy="502920"/>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0.0</a:t>
            </a:r>
            <a:endParaRPr lang="en-US" sz="1000" dirty="0"/>
          </a:p>
        </p:txBody>
      </p:sp>
      <p:sp>
        <p:nvSpPr>
          <p:cNvPr id="62" name="Shape 60"/>
          <p:cNvSpPr/>
          <p:nvPr/>
        </p:nvSpPr>
        <p:spPr>
          <a:xfrm>
            <a:off x="4754880" y="3200400"/>
            <a:ext cx="777240" cy="502920"/>
          </a:xfrm>
          <a:prstGeom prst="rect">
            <a:avLst/>
          </a:prstGeom>
          <a:solidFill>
            <a:srgbClr val="0B2545"/>
          </a:solidFill>
          <a:ln w="12700">
            <a:solidFill>
              <a:srgbClr val="FFFFFF"/>
            </a:solidFill>
            <a:prstDash val="solid"/>
          </a:ln>
        </p:spPr>
      </p:sp>
      <p:sp>
        <p:nvSpPr>
          <p:cNvPr id="63" name="Text 61"/>
          <p:cNvSpPr/>
          <p:nvPr/>
        </p:nvSpPr>
        <p:spPr>
          <a:xfrm>
            <a:off x="4754880" y="3200400"/>
            <a:ext cx="777240" cy="5029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1.0</a:t>
            </a:r>
            <a:endParaRPr lang="en-US" sz="1000" dirty="0"/>
          </a:p>
        </p:txBody>
      </p:sp>
      <p:sp>
        <p:nvSpPr>
          <p:cNvPr id="64" name="Shape 62"/>
          <p:cNvSpPr/>
          <p:nvPr/>
        </p:nvSpPr>
        <p:spPr>
          <a:xfrm>
            <a:off x="5669280" y="1188720"/>
            <a:ext cx="2834640" cy="30175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5" name="Shape 63"/>
          <p:cNvSpPr/>
          <p:nvPr/>
        </p:nvSpPr>
        <p:spPr>
          <a:xfrm>
            <a:off x="5669280" y="1188720"/>
            <a:ext cx="2834640" cy="54864"/>
          </a:xfrm>
          <a:prstGeom prst="rect">
            <a:avLst/>
          </a:prstGeom>
          <a:solidFill>
            <a:srgbClr val="065A82"/>
          </a:solidFill>
          <a:ln/>
        </p:spPr>
      </p:sp>
      <p:sp>
        <p:nvSpPr>
          <p:cNvPr id="66" name="Text 64"/>
          <p:cNvSpPr/>
          <p:nvPr/>
        </p:nvSpPr>
        <p:spPr>
          <a:xfrm>
            <a:off x="5852160" y="1371600"/>
            <a:ext cx="2468880" cy="27432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Key Relationships</a:t>
            </a:r>
            <a:endParaRPr lang="en-US" sz="1400" dirty="0"/>
          </a:p>
        </p:txBody>
      </p:sp>
      <p:sp>
        <p:nvSpPr>
          <p:cNvPr id="67" name="Text 65"/>
          <p:cNvSpPr/>
          <p:nvPr/>
        </p:nvSpPr>
        <p:spPr>
          <a:xfrm>
            <a:off x="5852160" y="1783080"/>
            <a:ext cx="2468880" cy="2194560"/>
          </a:xfrm>
          <a:prstGeom prst="rect">
            <a:avLst/>
          </a:prstGeom>
          <a:noFill/>
          <a:ln/>
        </p:spPr>
        <p:txBody>
          <a:bodyPr wrap="square" rtlCol="0" anchor="ctr"/>
          <a:lstStyle/>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nights ↔ Total_Price: r ≈ 0.9 (very strong positive)</a:t>
            </a:r>
            <a:endParaRPr lang="en-US" sz="1000" dirty="0"/>
          </a:p>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NightlyRate ↔ Total_Price: r ≈ 0.6 (moderate)</a:t>
            </a:r>
            <a:endParaRPr lang="en-US" sz="1000" dirty="0"/>
          </a:p>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Discounts show near-zero correlation with other features</a:t>
            </a:r>
            <a:endParaRPr lang="en-US" sz="1000" dirty="0"/>
          </a:p>
          <a:p>
            <a:pPr marL="342900" indent="-342900">
              <a:spcAft>
                <a:spcPts val="600"/>
              </a:spcAft>
              <a:buSzPct val="100000"/>
              <a:buChar char="•"/>
            </a:pPr>
            <a:r>
              <a:rPr lang="en-US" sz="1000" dirty="0">
                <a:solidFill>
                  <a:srgbClr val="1E293B"/>
                </a:solidFill>
                <a:latin typeface="Calibri" pitchFamily="34" charset="0"/>
                <a:ea typeface="Calibri" pitchFamily="34" charset="-122"/>
                <a:cs typeface="Calibri" pitchFamily="34" charset="-120"/>
              </a:rPr>
              <a:t>Adults_Count weakly correlated with spend</a:t>
            </a:r>
            <a:endParaRPr lang="en-US" sz="1000" dirty="0"/>
          </a:p>
        </p:txBody>
      </p:sp>
      <p:sp>
        <p:nvSpPr>
          <p:cNvPr id="68" name="Text 66"/>
          <p:cNvSpPr/>
          <p:nvPr/>
        </p:nvSpPr>
        <p:spPr>
          <a:xfrm>
            <a:off x="5852160" y="3886200"/>
            <a:ext cx="2468880" cy="22860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Suggested Visual: Heatmap + Scatter</a:t>
            </a:r>
            <a:endParaRPr lang="en-US" sz="900" dirty="0"/>
          </a:p>
        </p:txBody>
      </p:sp>
      <p:sp>
        <p:nvSpPr>
          <p:cNvPr id="69" name="Shape 67"/>
          <p:cNvSpPr/>
          <p:nvPr/>
        </p:nvSpPr>
        <p:spPr>
          <a:xfrm>
            <a:off x="0" y="4754880"/>
            <a:ext cx="9144000" cy="388620"/>
          </a:xfrm>
          <a:prstGeom prst="rect">
            <a:avLst/>
          </a:prstGeom>
          <a:solidFill>
            <a:srgbClr val="0B2545"/>
          </a:solidFill>
          <a:ln/>
        </p:spPr>
      </p:sp>
      <p:sp>
        <p:nvSpPr>
          <p:cNvPr id="70" name="Text 68"/>
          <p:cNvSpPr/>
          <p:nvPr/>
        </p:nvSpPr>
        <p:spPr>
          <a:xfrm>
            <a:off x="457200" y="4773168"/>
            <a:ext cx="8229600" cy="36576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Hotel Reservation &amp; Billing Management System</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640080" y="320040"/>
            <a:ext cx="7315200" cy="548640"/>
          </a:xfrm>
          <a:prstGeom prst="rect">
            <a:avLst/>
          </a:prstGeom>
          <a:noFill/>
          <a:ln/>
        </p:spPr>
        <p:txBody>
          <a:bodyPr wrap="square" lIns="0" tIns="0" rIns="0" bIns="0" rtlCol="0" anchor="ctr"/>
          <a:lstStyle/>
          <a:p>
            <a:pPr indent="0" marL="0">
              <a:buNone/>
            </a:pPr>
            <a:r>
              <a:rPr lang="en-US" sz="2800" b="1" dirty="0">
                <a:solidFill>
                  <a:srgbClr val="0B2545"/>
                </a:solidFill>
                <a:latin typeface="Georgia" pitchFamily="34" charset="0"/>
                <a:ea typeface="Georgia" pitchFamily="34" charset="-122"/>
                <a:cs typeface="Georgia" pitchFamily="34" charset="-120"/>
              </a:rPr>
              <a:t>Orange Data Mining Workflow</a:t>
            </a:r>
            <a:endParaRPr lang="en-US" sz="2800" dirty="0"/>
          </a:p>
        </p:txBody>
      </p:sp>
      <p:sp>
        <p:nvSpPr>
          <p:cNvPr id="3" name="Shape 1"/>
          <p:cNvSpPr/>
          <p:nvPr/>
        </p:nvSpPr>
        <p:spPr>
          <a:xfrm>
            <a:off x="640080" y="868680"/>
            <a:ext cx="1097280" cy="36576"/>
          </a:xfrm>
          <a:prstGeom prst="rect">
            <a:avLst/>
          </a:prstGeom>
          <a:solidFill>
            <a:srgbClr val="0EA5E9"/>
          </a:solidFill>
          <a:ln/>
        </p:spPr>
      </p:sp>
      <p:sp>
        <p:nvSpPr>
          <p:cNvPr id="4" name="Shape 2"/>
          <p:cNvSpPr/>
          <p:nvPr/>
        </p:nvSpPr>
        <p:spPr>
          <a:xfrm>
            <a:off x="457200" y="1188720"/>
            <a:ext cx="1463040" cy="1097280"/>
          </a:xfrm>
          <a:prstGeom prst="rect">
            <a:avLst/>
          </a:prstGeom>
          <a:solidFill>
            <a:srgbClr val="065A82"/>
          </a:solidFill>
          <a:ln/>
          <a:effectLst>
            <a:outerShdw sx="100000" sy="100000" kx="0" ky="0" algn="bl" rotWithShape="0" blurRad="50800" dist="25400" dir="8100000">
              <a:srgbClr val="000000">
                <a:alpha val="10000"/>
              </a:srgbClr>
            </a:outerShdw>
          </a:effectLst>
        </p:spPr>
      </p:sp>
      <p:sp>
        <p:nvSpPr>
          <p:cNvPr id="5" name="Text 3"/>
          <p:cNvSpPr/>
          <p:nvPr/>
        </p:nvSpPr>
        <p:spPr>
          <a:xfrm>
            <a:off x="457200" y="1280160"/>
            <a:ext cx="146304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CSV Import</a:t>
            </a:r>
            <a:endParaRPr lang="en-US" sz="1100" dirty="0"/>
          </a:p>
        </p:txBody>
      </p:sp>
      <p:sp>
        <p:nvSpPr>
          <p:cNvPr id="6" name="Text 4"/>
          <p:cNvSpPr/>
          <p:nvPr/>
        </p:nvSpPr>
        <p:spPr>
          <a:xfrm>
            <a:off x="457200" y="1737360"/>
            <a:ext cx="1463040" cy="411480"/>
          </a:xfrm>
          <a:prstGeom prst="rect">
            <a:avLst/>
          </a:prstGeom>
          <a:noFill/>
          <a:ln/>
        </p:spPr>
        <p:txBody>
          <a:bodyPr wrap="square" rtlCol="0" anchor="t"/>
          <a:lstStyle/>
          <a:p>
            <a:pPr algn="ctr" indent="0" marL="0">
              <a:buNone/>
            </a:pPr>
            <a:r>
              <a:rPr lang="en-US" sz="900" dirty="0">
                <a:solidFill>
                  <a:srgbClr val="BBDEFB"/>
                </a:solidFill>
                <a:latin typeface="Calibri" pitchFamily="34" charset="0"/>
                <a:ea typeface="Calibri" pitchFamily="34" charset="-122"/>
                <a:cs typeface="Calibri" pitchFamily="34" charset="-120"/>
              </a:rPr>
              <a:t>Load dataset</a:t>
            </a:r>
            <a:endParaRPr lang="en-US" sz="900" dirty="0"/>
          </a:p>
        </p:txBody>
      </p:sp>
      <p:sp>
        <p:nvSpPr>
          <p:cNvPr id="7" name="Text 5"/>
          <p:cNvSpPr/>
          <p:nvPr/>
        </p:nvSpPr>
        <p:spPr>
          <a:xfrm>
            <a:off x="1920240" y="1417320"/>
            <a:ext cx="274320" cy="548640"/>
          </a:xfrm>
          <a:prstGeom prst="rect">
            <a:avLst/>
          </a:prstGeom>
          <a:noFill/>
          <a:ln/>
        </p:spPr>
        <p:txBody>
          <a:bodyPr wrap="square" rtlCol="0" anchor="ctr"/>
          <a:lstStyle/>
          <a:p>
            <a:pPr algn="ctr" indent="0" marL="0">
              <a:buNone/>
            </a:pPr>
            <a:r>
              <a:rPr lang="en-US" sz="1400" dirty="0">
                <a:solidFill>
                  <a:srgbClr val="64748B"/>
                </a:solidFill>
              </a:rPr>
              <a:t>▶</a:t>
            </a:r>
            <a:endParaRPr lang="en-US" sz="1400" dirty="0"/>
          </a:p>
        </p:txBody>
      </p:sp>
      <p:sp>
        <p:nvSpPr>
          <p:cNvPr id="8" name="Shape 6"/>
          <p:cNvSpPr/>
          <p:nvPr/>
        </p:nvSpPr>
        <p:spPr>
          <a:xfrm>
            <a:off x="2194560" y="1188720"/>
            <a:ext cx="1463040" cy="1097280"/>
          </a:xfrm>
          <a:prstGeom prst="rect">
            <a:avLst/>
          </a:prstGeom>
          <a:solidFill>
            <a:srgbClr val="1C7293"/>
          </a:solidFill>
          <a:ln/>
          <a:effectLst>
            <a:outerShdw sx="100000" sy="100000" kx="0" ky="0" algn="bl" rotWithShape="0" blurRad="50800" dist="25400" dir="8100000">
              <a:srgbClr val="000000">
                <a:alpha val="10000"/>
              </a:srgbClr>
            </a:outerShdw>
          </a:effectLst>
        </p:spPr>
      </p:sp>
      <p:sp>
        <p:nvSpPr>
          <p:cNvPr id="9" name="Text 7"/>
          <p:cNvSpPr/>
          <p:nvPr/>
        </p:nvSpPr>
        <p:spPr>
          <a:xfrm>
            <a:off x="2194560" y="1280160"/>
            <a:ext cx="146304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Edit Domain</a:t>
            </a:r>
            <a:endParaRPr lang="en-US" sz="1100" dirty="0"/>
          </a:p>
        </p:txBody>
      </p:sp>
      <p:sp>
        <p:nvSpPr>
          <p:cNvPr id="10" name="Text 8"/>
          <p:cNvSpPr/>
          <p:nvPr/>
        </p:nvSpPr>
        <p:spPr>
          <a:xfrm>
            <a:off x="2194560" y="1737360"/>
            <a:ext cx="1463040" cy="411480"/>
          </a:xfrm>
          <a:prstGeom prst="rect">
            <a:avLst/>
          </a:prstGeom>
          <a:noFill/>
          <a:ln/>
        </p:spPr>
        <p:txBody>
          <a:bodyPr wrap="square" rtlCol="0" anchor="t"/>
          <a:lstStyle/>
          <a:p>
            <a:pPr algn="ctr" indent="0" marL="0">
              <a:buNone/>
            </a:pPr>
            <a:r>
              <a:rPr lang="en-US" sz="900" dirty="0">
                <a:solidFill>
                  <a:srgbClr val="BBDEFB"/>
                </a:solidFill>
                <a:latin typeface="Calibri" pitchFamily="34" charset="0"/>
                <a:ea typeface="Calibri" pitchFamily="34" charset="-122"/>
                <a:cs typeface="Calibri" pitchFamily="34" charset="-120"/>
              </a:rPr>
              <a:t>Set target variable</a:t>
            </a:r>
            <a:endParaRPr lang="en-US" sz="900" dirty="0"/>
          </a:p>
        </p:txBody>
      </p:sp>
      <p:sp>
        <p:nvSpPr>
          <p:cNvPr id="11" name="Text 9"/>
          <p:cNvSpPr/>
          <p:nvPr/>
        </p:nvSpPr>
        <p:spPr>
          <a:xfrm>
            <a:off x="3657600" y="1417320"/>
            <a:ext cx="274320" cy="548640"/>
          </a:xfrm>
          <a:prstGeom prst="rect">
            <a:avLst/>
          </a:prstGeom>
          <a:noFill/>
          <a:ln/>
        </p:spPr>
        <p:txBody>
          <a:bodyPr wrap="square" rtlCol="0" anchor="ctr"/>
          <a:lstStyle/>
          <a:p>
            <a:pPr algn="ctr" indent="0" marL="0">
              <a:buNone/>
            </a:pPr>
            <a:r>
              <a:rPr lang="en-US" sz="1400" dirty="0">
                <a:solidFill>
                  <a:srgbClr val="64748B"/>
                </a:solidFill>
              </a:rPr>
              <a:t>▶</a:t>
            </a:r>
            <a:endParaRPr lang="en-US" sz="1400" dirty="0"/>
          </a:p>
        </p:txBody>
      </p:sp>
      <p:sp>
        <p:nvSpPr>
          <p:cNvPr id="12" name="Shape 10"/>
          <p:cNvSpPr/>
          <p:nvPr/>
        </p:nvSpPr>
        <p:spPr>
          <a:xfrm>
            <a:off x="3931920" y="1188720"/>
            <a:ext cx="1463040" cy="1097280"/>
          </a:xfrm>
          <a:prstGeom prst="rect">
            <a:avLst/>
          </a:prstGeom>
          <a:solidFill>
            <a:srgbClr val="0EA5E9"/>
          </a:solidFill>
          <a:ln/>
          <a:effectLst>
            <a:outerShdw sx="100000" sy="100000" kx="0" ky="0" algn="bl" rotWithShape="0" blurRad="50800" dist="25400" dir="8100000">
              <a:srgbClr val="000000">
                <a:alpha val="10000"/>
              </a:srgbClr>
            </a:outerShdw>
          </a:effectLst>
        </p:spPr>
      </p:sp>
      <p:sp>
        <p:nvSpPr>
          <p:cNvPr id="13" name="Text 11"/>
          <p:cNvSpPr/>
          <p:nvPr/>
        </p:nvSpPr>
        <p:spPr>
          <a:xfrm>
            <a:off x="3931920" y="1280160"/>
            <a:ext cx="146304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Preprocess</a:t>
            </a:r>
            <a:endParaRPr lang="en-US" sz="1100" dirty="0"/>
          </a:p>
        </p:txBody>
      </p:sp>
      <p:sp>
        <p:nvSpPr>
          <p:cNvPr id="14" name="Text 12"/>
          <p:cNvSpPr/>
          <p:nvPr/>
        </p:nvSpPr>
        <p:spPr>
          <a:xfrm>
            <a:off x="3931920" y="1737360"/>
            <a:ext cx="1463040" cy="411480"/>
          </a:xfrm>
          <a:prstGeom prst="rect">
            <a:avLst/>
          </a:prstGeom>
          <a:noFill/>
          <a:ln/>
        </p:spPr>
        <p:txBody>
          <a:bodyPr wrap="square" rtlCol="0" anchor="t"/>
          <a:lstStyle/>
          <a:p>
            <a:pPr algn="ctr" indent="0" marL="0">
              <a:buNone/>
            </a:pPr>
            <a:r>
              <a:rPr lang="en-US" sz="900" dirty="0">
                <a:solidFill>
                  <a:srgbClr val="BBDEFB"/>
                </a:solidFill>
                <a:latin typeface="Calibri" pitchFamily="34" charset="0"/>
                <a:ea typeface="Calibri" pitchFamily="34" charset="-122"/>
                <a:cs typeface="Calibri" pitchFamily="34" charset="-120"/>
              </a:rPr>
              <a:t>Normalize + encode</a:t>
            </a:r>
            <a:endParaRPr lang="en-US" sz="900" dirty="0"/>
          </a:p>
        </p:txBody>
      </p:sp>
      <p:sp>
        <p:nvSpPr>
          <p:cNvPr id="15" name="Text 13"/>
          <p:cNvSpPr/>
          <p:nvPr/>
        </p:nvSpPr>
        <p:spPr>
          <a:xfrm>
            <a:off x="5394960" y="1417320"/>
            <a:ext cx="274320" cy="548640"/>
          </a:xfrm>
          <a:prstGeom prst="rect">
            <a:avLst/>
          </a:prstGeom>
          <a:noFill/>
          <a:ln/>
        </p:spPr>
        <p:txBody>
          <a:bodyPr wrap="square" rtlCol="0" anchor="ctr"/>
          <a:lstStyle/>
          <a:p>
            <a:pPr algn="ctr" indent="0" marL="0">
              <a:buNone/>
            </a:pPr>
            <a:r>
              <a:rPr lang="en-US" sz="1400" dirty="0">
                <a:solidFill>
                  <a:srgbClr val="64748B"/>
                </a:solidFill>
              </a:rPr>
              <a:t>▶</a:t>
            </a:r>
            <a:endParaRPr lang="en-US" sz="1400" dirty="0"/>
          </a:p>
        </p:txBody>
      </p:sp>
      <p:sp>
        <p:nvSpPr>
          <p:cNvPr id="16" name="Shape 14"/>
          <p:cNvSpPr/>
          <p:nvPr/>
        </p:nvSpPr>
        <p:spPr>
          <a:xfrm>
            <a:off x="5669280" y="1188720"/>
            <a:ext cx="1463040" cy="1097280"/>
          </a:xfrm>
          <a:prstGeom prst="rect">
            <a:avLst/>
          </a:prstGeom>
          <a:solidFill>
            <a:srgbClr val="0EA5E9"/>
          </a:solidFill>
          <a:ln/>
          <a:effectLst>
            <a:outerShdw sx="100000" sy="100000" kx="0" ky="0" algn="bl" rotWithShape="0" blurRad="50800" dist="25400" dir="8100000">
              <a:srgbClr val="000000">
                <a:alpha val="10000"/>
              </a:srgbClr>
            </a:outerShdw>
          </a:effectLst>
        </p:spPr>
      </p:sp>
      <p:sp>
        <p:nvSpPr>
          <p:cNvPr id="17" name="Text 15"/>
          <p:cNvSpPr/>
          <p:nvPr/>
        </p:nvSpPr>
        <p:spPr>
          <a:xfrm>
            <a:off x="5669280" y="1280160"/>
            <a:ext cx="146304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Select Cols</a:t>
            </a:r>
            <a:endParaRPr lang="en-US" sz="1100" dirty="0"/>
          </a:p>
        </p:txBody>
      </p:sp>
      <p:sp>
        <p:nvSpPr>
          <p:cNvPr id="18" name="Text 16"/>
          <p:cNvSpPr/>
          <p:nvPr/>
        </p:nvSpPr>
        <p:spPr>
          <a:xfrm>
            <a:off x="5669280" y="1737360"/>
            <a:ext cx="1463040" cy="411480"/>
          </a:xfrm>
          <a:prstGeom prst="rect">
            <a:avLst/>
          </a:prstGeom>
          <a:noFill/>
          <a:ln/>
        </p:spPr>
        <p:txBody>
          <a:bodyPr wrap="square" rtlCol="0" anchor="t"/>
          <a:lstStyle/>
          <a:p>
            <a:pPr algn="ctr" indent="0" marL="0">
              <a:buNone/>
            </a:pPr>
            <a:r>
              <a:rPr lang="en-US" sz="900" dirty="0">
                <a:solidFill>
                  <a:srgbClr val="BBDEFB"/>
                </a:solidFill>
                <a:latin typeface="Calibri" pitchFamily="34" charset="0"/>
                <a:ea typeface="Calibri" pitchFamily="34" charset="-122"/>
                <a:cs typeface="Calibri" pitchFamily="34" charset="-120"/>
              </a:rPr>
              <a:t>Feature selection</a:t>
            </a:r>
            <a:endParaRPr lang="en-US" sz="900" dirty="0"/>
          </a:p>
        </p:txBody>
      </p:sp>
      <p:sp>
        <p:nvSpPr>
          <p:cNvPr id="19" name="Text 17"/>
          <p:cNvSpPr/>
          <p:nvPr/>
        </p:nvSpPr>
        <p:spPr>
          <a:xfrm>
            <a:off x="7132320" y="1417320"/>
            <a:ext cx="274320" cy="548640"/>
          </a:xfrm>
          <a:prstGeom prst="rect">
            <a:avLst/>
          </a:prstGeom>
          <a:noFill/>
          <a:ln/>
        </p:spPr>
        <p:txBody>
          <a:bodyPr wrap="square" rtlCol="0" anchor="ctr"/>
          <a:lstStyle/>
          <a:p>
            <a:pPr algn="ctr" indent="0" marL="0">
              <a:buNone/>
            </a:pPr>
            <a:r>
              <a:rPr lang="en-US" sz="1400" dirty="0">
                <a:solidFill>
                  <a:srgbClr val="64748B"/>
                </a:solidFill>
              </a:rPr>
              <a:t>▶</a:t>
            </a:r>
            <a:endParaRPr lang="en-US" sz="1400" dirty="0"/>
          </a:p>
        </p:txBody>
      </p:sp>
      <p:sp>
        <p:nvSpPr>
          <p:cNvPr id="20" name="Shape 18"/>
          <p:cNvSpPr/>
          <p:nvPr/>
        </p:nvSpPr>
        <p:spPr>
          <a:xfrm>
            <a:off x="7406640" y="1188720"/>
            <a:ext cx="1463040" cy="1097280"/>
          </a:xfrm>
          <a:prstGeom prst="rect">
            <a:avLst/>
          </a:prstGeom>
          <a:solidFill>
            <a:srgbClr val="10B981"/>
          </a:solidFill>
          <a:ln/>
          <a:effectLst>
            <a:outerShdw sx="100000" sy="100000" kx="0" ky="0" algn="bl" rotWithShape="0" blurRad="50800" dist="25400" dir="8100000">
              <a:srgbClr val="000000">
                <a:alpha val="10000"/>
              </a:srgbClr>
            </a:outerShdw>
          </a:effectLst>
        </p:spPr>
      </p:sp>
      <p:sp>
        <p:nvSpPr>
          <p:cNvPr id="21" name="Text 19"/>
          <p:cNvSpPr/>
          <p:nvPr/>
        </p:nvSpPr>
        <p:spPr>
          <a:xfrm>
            <a:off x="7406640" y="1280160"/>
            <a:ext cx="146304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Data Sampler</a:t>
            </a:r>
            <a:endParaRPr lang="en-US" sz="1100" dirty="0"/>
          </a:p>
        </p:txBody>
      </p:sp>
      <p:sp>
        <p:nvSpPr>
          <p:cNvPr id="22" name="Text 20"/>
          <p:cNvSpPr/>
          <p:nvPr/>
        </p:nvSpPr>
        <p:spPr>
          <a:xfrm>
            <a:off x="7406640" y="1737360"/>
            <a:ext cx="1463040" cy="411480"/>
          </a:xfrm>
          <a:prstGeom prst="rect">
            <a:avLst/>
          </a:prstGeom>
          <a:noFill/>
          <a:ln/>
        </p:spPr>
        <p:txBody>
          <a:bodyPr wrap="square" rtlCol="0" anchor="t"/>
          <a:lstStyle/>
          <a:p>
            <a:pPr algn="ctr" indent="0" marL="0">
              <a:buNone/>
            </a:pPr>
            <a:r>
              <a:rPr lang="en-US" sz="900" dirty="0">
                <a:solidFill>
                  <a:srgbClr val="BBDEFB"/>
                </a:solidFill>
                <a:latin typeface="Calibri" pitchFamily="34" charset="0"/>
                <a:ea typeface="Calibri" pitchFamily="34" charset="-122"/>
                <a:cs typeface="Calibri" pitchFamily="34" charset="-120"/>
              </a:rPr>
              <a:t>80/20 split</a:t>
            </a:r>
            <a:endParaRPr lang="en-US" sz="900" dirty="0"/>
          </a:p>
        </p:txBody>
      </p:sp>
      <p:sp>
        <p:nvSpPr>
          <p:cNvPr id="23" name="Text 21"/>
          <p:cNvSpPr/>
          <p:nvPr/>
        </p:nvSpPr>
        <p:spPr>
          <a:xfrm>
            <a:off x="640080" y="2514600"/>
            <a:ext cx="7863840" cy="36576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8 Classification Models</a:t>
            </a:r>
            <a:endParaRPr lang="en-US" sz="1400" dirty="0"/>
          </a:p>
        </p:txBody>
      </p:sp>
      <p:sp>
        <p:nvSpPr>
          <p:cNvPr id="24" name="Shape 22"/>
          <p:cNvSpPr/>
          <p:nvPr/>
        </p:nvSpPr>
        <p:spPr>
          <a:xfrm>
            <a:off x="640080" y="2926080"/>
            <a:ext cx="1828800" cy="457200"/>
          </a:xfrm>
          <a:prstGeom prst="rect">
            <a:avLst/>
          </a:prstGeom>
          <a:solidFill>
            <a:srgbClr val="065A82"/>
          </a:solidFill>
          <a:ln/>
          <a:effectLst>
            <a:outerShdw sx="100000" sy="100000" kx="0" ky="0" algn="bl" rotWithShape="0" blurRad="50800" dist="25400" dir="8100000">
              <a:srgbClr val="000000">
                <a:alpha val="10000"/>
              </a:srgbClr>
            </a:outerShdw>
          </a:effectLst>
        </p:spPr>
      </p:sp>
      <p:sp>
        <p:nvSpPr>
          <p:cNvPr id="25" name="Text 23"/>
          <p:cNvSpPr/>
          <p:nvPr/>
        </p:nvSpPr>
        <p:spPr>
          <a:xfrm>
            <a:off x="640080" y="2926080"/>
            <a:ext cx="182880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Random Forest</a:t>
            </a:r>
            <a:endParaRPr lang="en-US" sz="1100" dirty="0"/>
          </a:p>
        </p:txBody>
      </p:sp>
      <p:sp>
        <p:nvSpPr>
          <p:cNvPr id="26" name="Shape 24"/>
          <p:cNvSpPr/>
          <p:nvPr/>
        </p:nvSpPr>
        <p:spPr>
          <a:xfrm>
            <a:off x="2743200" y="2926080"/>
            <a:ext cx="1828800" cy="457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7" name="Text 25"/>
          <p:cNvSpPr/>
          <p:nvPr/>
        </p:nvSpPr>
        <p:spPr>
          <a:xfrm>
            <a:off x="2743200" y="2926080"/>
            <a:ext cx="1828800" cy="457200"/>
          </a:xfrm>
          <a:prstGeom prst="rect">
            <a:avLst/>
          </a:prstGeom>
          <a:noFill/>
          <a:ln/>
        </p:spPr>
        <p:txBody>
          <a:bodyPr wrap="square"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Gradient Boost</a:t>
            </a:r>
            <a:endParaRPr lang="en-US" sz="1100" dirty="0"/>
          </a:p>
        </p:txBody>
      </p:sp>
      <p:sp>
        <p:nvSpPr>
          <p:cNvPr id="28" name="Shape 26"/>
          <p:cNvSpPr/>
          <p:nvPr/>
        </p:nvSpPr>
        <p:spPr>
          <a:xfrm>
            <a:off x="4846320" y="2926080"/>
            <a:ext cx="1828800" cy="457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9" name="Text 27"/>
          <p:cNvSpPr/>
          <p:nvPr/>
        </p:nvSpPr>
        <p:spPr>
          <a:xfrm>
            <a:off x="4846320" y="2926080"/>
            <a:ext cx="1828800" cy="457200"/>
          </a:xfrm>
          <a:prstGeom prst="rect">
            <a:avLst/>
          </a:prstGeom>
          <a:noFill/>
          <a:ln/>
        </p:spPr>
        <p:txBody>
          <a:bodyPr wrap="square"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SVM</a:t>
            </a:r>
            <a:endParaRPr lang="en-US" sz="1100" dirty="0"/>
          </a:p>
        </p:txBody>
      </p:sp>
      <p:sp>
        <p:nvSpPr>
          <p:cNvPr id="30" name="Shape 28"/>
          <p:cNvSpPr/>
          <p:nvPr/>
        </p:nvSpPr>
        <p:spPr>
          <a:xfrm>
            <a:off x="6949440" y="2926080"/>
            <a:ext cx="1828800" cy="457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1" name="Text 29"/>
          <p:cNvSpPr/>
          <p:nvPr/>
        </p:nvSpPr>
        <p:spPr>
          <a:xfrm>
            <a:off x="6949440" y="2926080"/>
            <a:ext cx="1828800" cy="457200"/>
          </a:xfrm>
          <a:prstGeom prst="rect">
            <a:avLst/>
          </a:prstGeom>
          <a:noFill/>
          <a:ln/>
        </p:spPr>
        <p:txBody>
          <a:bodyPr wrap="square"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AdaBoost</a:t>
            </a:r>
            <a:endParaRPr lang="en-US" sz="1100" dirty="0"/>
          </a:p>
        </p:txBody>
      </p:sp>
      <p:sp>
        <p:nvSpPr>
          <p:cNvPr id="32" name="Shape 30"/>
          <p:cNvSpPr/>
          <p:nvPr/>
        </p:nvSpPr>
        <p:spPr>
          <a:xfrm>
            <a:off x="640080" y="3520440"/>
            <a:ext cx="1828800" cy="457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3" name="Text 31"/>
          <p:cNvSpPr/>
          <p:nvPr/>
        </p:nvSpPr>
        <p:spPr>
          <a:xfrm>
            <a:off x="640080" y="3520440"/>
            <a:ext cx="1828800" cy="457200"/>
          </a:xfrm>
          <a:prstGeom prst="rect">
            <a:avLst/>
          </a:prstGeom>
          <a:noFill/>
          <a:ln/>
        </p:spPr>
        <p:txBody>
          <a:bodyPr wrap="square"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Decision Tree</a:t>
            </a:r>
            <a:endParaRPr lang="en-US" sz="1100" dirty="0"/>
          </a:p>
        </p:txBody>
      </p:sp>
      <p:sp>
        <p:nvSpPr>
          <p:cNvPr id="34" name="Shape 32"/>
          <p:cNvSpPr/>
          <p:nvPr/>
        </p:nvSpPr>
        <p:spPr>
          <a:xfrm>
            <a:off x="2743200" y="3520440"/>
            <a:ext cx="1828800" cy="457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5" name="Text 33"/>
          <p:cNvSpPr/>
          <p:nvPr/>
        </p:nvSpPr>
        <p:spPr>
          <a:xfrm>
            <a:off x="2743200" y="3520440"/>
            <a:ext cx="1828800" cy="457200"/>
          </a:xfrm>
          <a:prstGeom prst="rect">
            <a:avLst/>
          </a:prstGeom>
          <a:noFill/>
          <a:ln/>
        </p:spPr>
        <p:txBody>
          <a:bodyPr wrap="square"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Logistic Reg.</a:t>
            </a:r>
            <a:endParaRPr lang="en-US" sz="1100" dirty="0"/>
          </a:p>
        </p:txBody>
      </p:sp>
      <p:sp>
        <p:nvSpPr>
          <p:cNvPr id="36" name="Shape 34"/>
          <p:cNvSpPr/>
          <p:nvPr/>
        </p:nvSpPr>
        <p:spPr>
          <a:xfrm>
            <a:off x="4846320" y="3520440"/>
            <a:ext cx="1828800" cy="457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7" name="Text 35"/>
          <p:cNvSpPr/>
          <p:nvPr/>
        </p:nvSpPr>
        <p:spPr>
          <a:xfrm>
            <a:off x="4846320" y="3520440"/>
            <a:ext cx="1828800" cy="457200"/>
          </a:xfrm>
          <a:prstGeom prst="rect">
            <a:avLst/>
          </a:prstGeom>
          <a:noFill/>
          <a:ln/>
        </p:spPr>
        <p:txBody>
          <a:bodyPr wrap="square"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Neural Net</a:t>
            </a:r>
            <a:endParaRPr lang="en-US" sz="1100" dirty="0"/>
          </a:p>
        </p:txBody>
      </p:sp>
      <p:sp>
        <p:nvSpPr>
          <p:cNvPr id="38" name="Shape 36"/>
          <p:cNvSpPr/>
          <p:nvPr/>
        </p:nvSpPr>
        <p:spPr>
          <a:xfrm>
            <a:off x="6949440" y="3520440"/>
            <a:ext cx="1828800" cy="457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9" name="Text 37"/>
          <p:cNvSpPr/>
          <p:nvPr/>
        </p:nvSpPr>
        <p:spPr>
          <a:xfrm>
            <a:off x="6949440" y="3520440"/>
            <a:ext cx="1828800" cy="457200"/>
          </a:xfrm>
          <a:prstGeom prst="rect">
            <a:avLst/>
          </a:prstGeom>
          <a:noFill/>
          <a:ln/>
        </p:spPr>
        <p:txBody>
          <a:bodyPr wrap="square"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kNN</a:t>
            </a:r>
            <a:endParaRPr lang="en-US" sz="1100" dirty="0"/>
          </a:p>
        </p:txBody>
      </p:sp>
      <p:sp>
        <p:nvSpPr>
          <p:cNvPr id="40" name="Shape 38"/>
          <p:cNvSpPr/>
          <p:nvPr/>
        </p:nvSpPr>
        <p:spPr>
          <a:xfrm>
            <a:off x="0" y="4754880"/>
            <a:ext cx="9144000" cy="388620"/>
          </a:xfrm>
          <a:prstGeom prst="rect">
            <a:avLst/>
          </a:prstGeom>
          <a:solidFill>
            <a:srgbClr val="0B2545"/>
          </a:solidFill>
          <a:ln/>
        </p:spPr>
      </p:sp>
      <p:sp>
        <p:nvSpPr>
          <p:cNvPr id="41" name="Text 39"/>
          <p:cNvSpPr/>
          <p:nvPr/>
        </p:nvSpPr>
        <p:spPr>
          <a:xfrm>
            <a:off x="457200" y="4773168"/>
            <a:ext cx="8229600" cy="36576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Hotel Reservation &amp; Billing Management System</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640080" y="320040"/>
            <a:ext cx="7315200" cy="548640"/>
          </a:xfrm>
          <a:prstGeom prst="rect">
            <a:avLst/>
          </a:prstGeom>
          <a:noFill/>
          <a:ln/>
        </p:spPr>
        <p:txBody>
          <a:bodyPr wrap="square" lIns="0" tIns="0" rIns="0" bIns="0" rtlCol="0" anchor="ctr"/>
          <a:lstStyle/>
          <a:p>
            <a:pPr indent="0" marL="0">
              <a:buNone/>
            </a:pPr>
            <a:r>
              <a:rPr lang="en-US" sz="2800" b="1" dirty="0">
                <a:solidFill>
                  <a:srgbClr val="0B2545"/>
                </a:solidFill>
                <a:latin typeface="Georgia" pitchFamily="34" charset="0"/>
                <a:ea typeface="Georgia" pitchFamily="34" charset="-122"/>
                <a:cs typeface="Georgia" pitchFamily="34" charset="-120"/>
              </a:rPr>
              <a:t>Machine Learning Models</a:t>
            </a:r>
            <a:endParaRPr lang="en-US" sz="2800" dirty="0"/>
          </a:p>
        </p:txBody>
      </p:sp>
      <p:sp>
        <p:nvSpPr>
          <p:cNvPr id="3" name="Shape 1"/>
          <p:cNvSpPr/>
          <p:nvPr/>
        </p:nvSpPr>
        <p:spPr>
          <a:xfrm>
            <a:off x="640080" y="868680"/>
            <a:ext cx="1097280" cy="36576"/>
          </a:xfrm>
          <a:prstGeom prst="rect">
            <a:avLst/>
          </a:prstGeom>
          <a:solidFill>
            <a:srgbClr val="0EA5E9"/>
          </a:solidFill>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1051560"/>
          <a:ext cx="7863840" cy="3474720"/>
        </p:xfrm>
        <a:graphic>
          <a:graphicData uri="http://schemas.openxmlformats.org/drawingml/2006/table">
            <a:tbl>
              <a:tblPr/>
              <a:tblGrid>
                <a:gridCol w="1828800"/>
                <a:gridCol w="1371600"/>
                <a:gridCol w="4663440"/>
              </a:tblGrid>
              <a:tr h="32004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Type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Description</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r>
              <a:tr h="34747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Random Forest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Ensemble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Ensemble of 100 trees, majority vote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747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Gradient Boosting</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Ensemble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Sequential trees correcting previous errors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747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SVM</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Linear/Kernel</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Optimal hyperplane separator, needs scaling</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747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AdaBoost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Ensemble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Weighted re-sampling on misclassified data</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747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Decision Tree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Tree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Interpretable single tree (baseline)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747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Logistic Regression</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Linear</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Linear baseline for separability check</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747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Neural Network</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Deep</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Multi-layer perceptron, captures non-linearity</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747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kNN</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Instance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Distance-based classification (k neighbors)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5" name="Shape 2"/>
          <p:cNvSpPr/>
          <p:nvPr/>
        </p:nvSpPr>
        <p:spPr>
          <a:xfrm>
            <a:off x="0" y="4754880"/>
            <a:ext cx="9144000" cy="388620"/>
          </a:xfrm>
          <a:prstGeom prst="rect">
            <a:avLst/>
          </a:prstGeom>
          <a:solidFill>
            <a:srgbClr val="0B2545"/>
          </a:solidFill>
          <a:ln/>
        </p:spPr>
      </p:sp>
      <p:sp>
        <p:nvSpPr>
          <p:cNvPr id="6" name="Text 3"/>
          <p:cNvSpPr/>
          <p:nvPr/>
        </p:nvSpPr>
        <p:spPr>
          <a:xfrm>
            <a:off x="457200" y="4773168"/>
            <a:ext cx="8229600" cy="36576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Hotel Reservation &amp; Billing Management System</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640080" y="320040"/>
            <a:ext cx="7315200" cy="548640"/>
          </a:xfrm>
          <a:prstGeom prst="rect">
            <a:avLst/>
          </a:prstGeom>
          <a:noFill/>
          <a:ln/>
        </p:spPr>
        <p:txBody>
          <a:bodyPr wrap="square" lIns="0" tIns="0" rIns="0" bIns="0" rtlCol="0" anchor="ctr"/>
          <a:lstStyle/>
          <a:p>
            <a:pPr indent="0" marL="0">
              <a:buNone/>
            </a:pPr>
            <a:r>
              <a:rPr lang="en-US" sz="2800" b="1" dirty="0">
                <a:solidFill>
                  <a:srgbClr val="0B2545"/>
                </a:solidFill>
                <a:latin typeface="Georgia" pitchFamily="34" charset="0"/>
                <a:ea typeface="Georgia" pitchFamily="34" charset="-122"/>
                <a:cs typeface="Georgia" pitchFamily="34" charset="-120"/>
              </a:rPr>
              <a:t>Model Comparison Results</a:t>
            </a:r>
            <a:endParaRPr lang="en-US" sz="2800" dirty="0"/>
          </a:p>
        </p:txBody>
      </p:sp>
      <p:sp>
        <p:nvSpPr>
          <p:cNvPr id="3" name="Shape 1"/>
          <p:cNvSpPr/>
          <p:nvPr/>
        </p:nvSpPr>
        <p:spPr>
          <a:xfrm>
            <a:off x="640080" y="868680"/>
            <a:ext cx="1097280" cy="36576"/>
          </a:xfrm>
          <a:prstGeom prst="rect">
            <a:avLst/>
          </a:prstGeom>
          <a:solidFill>
            <a:srgbClr val="0EA5E9"/>
          </a:solidFill>
          <a:ln/>
        </p:spPr>
      </p:sp>
      <p:graphicFrame>
        <p:nvGraphicFramePr>
          <p:cNvPr id="4" name="Chart 0" descr=""/>
          <p:cNvGraphicFramePr/>
          <p:nvPr/>
        </p:nvGraphicFramePr>
        <p:xfrm>
          <a:off x="457200" y="1005840"/>
          <a:ext cx="8229600" cy="29260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40080" y="4114800"/>
            <a:ext cx="7863840" cy="502920"/>
          </a:xfrm>
          <a:prstGeom prst="rect">
            <a:avLst/>
          </a:prstGeom>
          <a:solidFill>
            <a:srgbClr val="ECFDF5"/>
          </a:solidFill>
          <a:ln/>
        </p:spPr>
      </p:sp>
      <p:sp>
        <p:nvSpPr>
          <p:cNvPr id="6" name="Shape 3"/>
          <p:cNvSpPr/>
          <p:nvPr/>
        </p:nvSpPr>
        <p:spPr>
          <a:xfrm>
            <a:off x="640080" y="4114800"/>
            <a:ext cx="64008" cy="502920"/>
          </a:xfrm>
          <a:prstGeom prst="rect">
            <a:avLst/>
          </a:prstGeom>
          <a:solidFill>
            <a:srgbClr val="10B981"/>
          </a:solidFill>
          <a:ln/>
        </p:spPr>
      </p:sp>
      <p:sp>
        <p:nvSpPr>
          <p:cNvPr id="7" name="Text 4"/>
          <p:cNvSpPr/>
          <p:nvPr/>
        </p:nvSpPr>
        <p:spPr>
          <a:xfrm>
            <a:off x="1005840" y="4114800"/>
            <a:ext cx="7315200" cy="502920"/>
          </a:xfrm>
          <a:prstGeom prst="rect">
            <a:avLst/>
          </a:prstGeom>
          <a:noFill/>
          <a:ln/>
        </p:spPr>
        <p:txBody>
          <a:bodyPr wrap="square"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Winner: Random Forest at 81% accuracy</a:t>
            </a:r>
            <a:pPr indent="0" marL="0">
              <a:buNone/>
            </a:pPr>
            <a:r>
              <a:rPr lang="en-US" sz="1200" dirty="0">
                <a:solidFill>
                  <a:srgbClr val="1E293B"/>
                </a:solidFill>
                <a:latin typeface="Calibri" pitchFamily="34" charset="0"/>
                <a:ea typeface="Calibri" pitchFamily="34" charset="-122"/>
                <a:cs typeface="Calibri" pitchFamily="34" charset="-120"/>
              </a:rPr>
              <a:t> — Best balance of precision, recall, and robustness across all reservation status classes</a:t>
            </a:r>
            <a:endParaRPr lang="en-US" sz="1200" dirty="0"/>
          </a:p>
        </p:txBody>
      </p:sp>
      <p:sp>
        <p:nvSpPr>
          <p:cNvPr id="8" name="Shape 5"/>
          <p:cNvSpPr/>
          <p:nvPr/>
        </p:nvSpPr>
        <p:spPr>
          <a:xfrm>
            <a:off x="0" y="4754880"/>
            <a:ext cx="9144000" cy="388620"/>
          </a:xfrm>
          <a:prstGeom prst="rect">
            <a:avLst/>
          </a:prstGeom>
          <a:solidFill>
            <a:srgbClr val="0B2545"/>
          </a:solidFill>
          <a:ln/>
        </p:spPr>
      </p:sp>
      <p:sp>
        <p:nvSpPr>
          <p:cNvPr id="9" name="Text 6"/>
          <p:cNvSpPr/>
          <p:nvPr/>
        </p:nvSpPr>
        <p:spPr>
          <a:xfrm>
            <a:off x="457200" y="4773168"/>
            <a:ext cx="8229600" cy="36576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Hotel Reservation &amp; Billing Management System</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640080" y="320040"/>
            <a:ext cx="7315200" cy="548640"/>
          </a:xfrm>
          <a:prstGeom prst="rect">
            <a:avLst/>
          </a:prstGeom>
          <a:noFill/>
          <a:ln/>
        </p:spPr>
        <p:txBody>
          <a:bodyPr wrap="square" lIns="0" tIns="0" rIns="0" bIns="0" rtlCol="0" anchor="ctr"/>
          <a:lstStyle/>
          <a:p>
            <a:pPr indent="0" marL="0">
              <a:buNone/>
            </a:pPr>
            <a:r>
              <a:rPr lang="en-US" sz="2800" b="1" dirty="0">
                <a:solidFill>
                  <a:srgbClr val="0B2545"/>
                </a:solidFill>
                <a:latin typeface="Georgia" pitchFamily="34" charset="0"/>
                <a:ea typeface="Georgia" pitchFamily="34" charset="-122"/>
                <a:cs typeface="Georgia" pitchFamily="34" charset="-120"/>
              </a:rPr>
              <a:t>Best Model: Random Forest</a:t>
            </a:r>
            <a:endParaRPr lang="en-US" sz="2800" dirty="0"/>
          </a:p>
        </p:txBody>
      </p:sp>
      <p:sp>
        <p:nvSpPr>
          <p:cNvPr id="3" name="Shape 1"/>
          <p:cNvSpPr/>
          <p:nvPr/>
        </p:nvSpPr>
        <p:spPr>
          <a:xfrm>
            <a:off x="640080" y="868680"/>
            <a:ext cx="1097280" cy="36576"/>
          </a:xfrm>
          <a:prstGeom prst="rect">
            <a:avLst/>
          </a:prstGeom>
          <a:solidFill>
            <a:srgbClr val="0EA5E9"/>
          </a:solidFill>
          <a:ln/>
        </p:spPr>
      </p:sp>
      <p:sp>
        <p:nvSpPr>
          <p:cNvPr id="4" name="Shape 2"/>
          <p:cNvSpPr/>
          <p:nvPr/>
        </p:nvSpPr>
        <p:spPr>
          <a:xfrm>
            <a:off x="640080" y="1097280"/>
            <a:ext cx="3200400" cy="2011680"/>
          </a:xfrm>
          <a:prstGeom prst="rect">
            <a:avLst/>
          </a:prstGeom>
          <a:solidFill>
            <a:srgbClr val="065A82"/>
          </a:solidFill>
          <a:ln/>
          <a:effectLst>
            <a:outerShdw sx="100000" sy="100000" kx="0" ky="0" algn="bl" rotWithShape="0" blurRad="50800" dist="25400" dir="8100000">
              <a:srgbClr val="000000">
                <a:alpha val="10000"/>
              </a:srgbClr>
            </a:outerShdw>
          </a:effectLst>
        </p:spPr>
      </p:sp>
      <p:pic>
        <p:nvPicPr>
          <p:cNvPr id="5" name="Image 0" descr="preencoded.png">    </p:cNvPr>
          <p:cNvPicPr>
            <a:picLocks noChangeAspect="1"/>
          </p:cNvPicPr>
          <p:nvPr/>
        </p:nvPicPr>
        <p:blipFill>
          <a:blip r:embed="rId1"/>
          <a:stretch>
            <a:fillRect/>
          </a:stretch>
        </p:blipFill>
        <p:spPr>
          <a:xfrm>
            <a:off x="1737360" y="1234440"/>
            <a:ext cx="731520" cy="731520"/>
          </a:xfrm>
          <a:prstGeom prst="rect">
            <a:avLst/>
          </a:prstGeom>
        </p:spPr>
      </p:pic>
      <p:sp>
        <p:nvSpPr>
          <p:cNvPr id="6" name="Text 3"/>
          <p:cNvSpPr/>
          <p:nvPr/>
        </p:nvSpPr>
        <p:spPr>
          <a:xfrm>
            <a:off x="640080" y="1965960"/>
            <a:ext cx="3200400" cy="54864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81%</a:t>
            </a:r>
            <a:endParaRPr lang="en-US" sz="4400" dirty="0"/>
          </a:p>
        </p:txBody>
      </p:sp>
      <p:sp>
        <p:nvSpPr>
          <p:cNvPr id="7" name="Text 4"/>
          <p:cNvSpPr/>
          <p:nvPr/>
        </p:nvSpPr>
        <p:spPr>
          <a:xfrm>
            <a:off x="640080" y="2468880"/>
            <a:ext cx="3200400" cy="320040"/>
          </a:xfrm>
          <a:prstGeom prst="rect">
            <a:avLst/>
          </a:prstGeom>
          <a:noFill/>
          <a:ln/>
        </p:spPr>
        <p:txBody>
          <a:bodyPr wrap="square" rtlCol="0" anchor="ctr"/>
          <a:lstStyle/>
          <a:p>
            <a:pPr algn="ctr" indent="0" marL="0">
              <a:buNone/>
            </a:pPr>
            <a:r>
              <a:rPr lang="en-US" sz="1400" dirty="0">
                <a:solidFill>
                  <a:srgbClr val="90CAF9"/>
                </a:solidFill>
                <a:latin typeface="Calibri" pitchFamily="34" charset="0"/>
                <a:ea typeface="Calibri" pitchFamily="34" charset="-122"/>
                <a:cs typeface="Calibri" pitchFamily="34" charset="-120"/>
              </a:rPr>
              <a:t>Test Accuracy</a:t>
            </a:r>
            <a:endParaRPr lang="en-US" sz="1400" dirty="0"/>
          </a:p>
        </p:txBody>
      </p:sp>
      <p:sp>
        <p:nvSpPr>
          <p:cNvPr id="8" name="Shape 5"/>
          <p:cNvSpPr/>
          <p:nvPr/>
        </p:nvSpPr>
        <p:spPr>
          <a:xfrm>
            <a:off x="4114800" y="1097280"/>
            <a:ext cx="4389120" cy="20116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9" name="Text 6"/>
          <p:cNvSpPr/>
          <p:nvPr/>
        </p:nvSpPr>
        <p:spPr>
          <a:xfrm>
            <a:off x="4297680" y="1188720"/>
            <a:ext cx="4023360" cy="320040"/>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Why Random Forest?</a:t>
            </a:r>
            <a:endParaRPr lang="en-US" sz="1500" dirty="0"/>
          </a:p>
        </p:txBody>
      </p:sp>
      <p:sp>
        <p:nvSpPr>
          <p:cNvPr id="10" name="Text 7"/>
          <p:cNvSpPr/>
          <p:nvPr/>
        </p:nvSpPr>
        <p:spPr>
          <a:xfrm>
            <a:off x="4297680" y="1554480"/>
            <a:ext cx="4023360" cy="1371600"/>
          </a:xfrm>
          <a:prstGeom prst="rect">
            <a:avLst/>
          </a:prstGeom>
          <a:noFill/>
          <a:ln/>
        </p:spPr>
        <p:txBody>
          <a:bodyPr wrap="square" rtlCol="0" anchor="ctr"/>
          <a:lstStyle/>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Low false-negative rate for 'cancelled' class</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Robust to outliers and class imbalance</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No overfitting (unlike Decision Tree)</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Feature importance: nights &amp; nightly rate are top predictors</a:t>
            </a:r>
            <a:endParaRPr lang="en-US" sz="1100" dirty="0"/>
          </a:p>
        </p:txBody>
      </p:sp>
      <p:sp>
        <p:nvSpPr>
          <p:cNvPr id="11" name="Shape 8"/>
          <p:cNvSpPr/>
          <p:nvPr/>
        </p:nvSpPr>
        <p:spPr>
          <a:xfrm>
            <a:off x="640080" y="3337560"/>
            <a:ext cx="7863840" cy="1097280"/>
          </a:xfrm>
          <a:prstGeom prst="rect">
            <a:avLst/>
          </a:prstGeom>
          <a:solidFill>
            <a:srgbClr val="EFF6FF"/>
          </a:solidFill>
          <a:ln/>
          <a:effectLst>
            <a:outerShdw sx="100000" sy="100000" kx="0" ky="0" algn="bl" rotWithShape="0" blurRad="50800" dist="25400" dir="8100000">
              <a:srgbClr val="000000">
                <a:alpha val="10000"/>
              </a:srgbClr>
            </a:outerShdw>
          </a:effectLst>
        </p:spPr>
      </p:sp>
      <p:sp>
        <p:nvSpPr>
          <p:cNvPr id="12" name="Shape 9"/>
          <p:cNvSpPr/>
          <p:nvPr/>
        </p:nvSpPr>
        <p:spPr>
          <a:xfrm>
            <a:off x="640080" y="3337560"/>
            <a:ext cx="64008" cy="1097280"/>
          </a:xfrm>
          <a:prstGeom prst="rect">
            <a:avLst/>
          </a:prstGeom>
          <a:solidFill>
            <a:srgbClr val="0EA5E9"/>
          </a:solidFill>
          <a:ln/>
        </p:spPr>
      </p:sp>
      <p:sp>
        <p:nvSpPr>
          <p:cNvPr id="13" name="Text 10"/>
          <p:cNvSpPr/>
          <p:nvPr/>
        </p:nvSpPr>
        <p:spPr>
          <a:xfrm>
            <a:off x="1005840" y="3410712"/>
            <a:ext cx="7132320"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Business Impact</a:t>
            </a:r>
            <a:endParaRPr lang="en-US" sz="1300" dirty="0"/>
          </a:p>
        </p:txBody>
      </p:sp>
      <p:sp>
        <p:nvSpPr>
          <p:cNvPr id="14" name="Text 11"/>
          <p:cNvSpPr/>
          <p:nvPr/>
        </p:nvSpPr>
        <p:spPr>
          <a:xfrm>
            <a:off x="1005840" y="3703320"/>
            <a:ext cx="7132320" cy="685800"/>
          </a:xfrm>
          <a:prstGeom prst="rect">
            <a:avLst/>
          </a:prstGeom>
          <a:noFill/>
          <a:ln/>
        </p:spPr>
        <p:txBody>
          <a:bodyPr wrap="square" rtlCol="0" anchor="ctr"/>
          <a:lstStyle/>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Can flag high-risk reservations for proactive intervention</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Longer stays at higher rates = lower cancellation risk (invest in these guests)</a:t>
            </a:r>
            <a:endParaRPr lang="en-US" sz="11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Short, cheap bookings need more monitoring and deposit requirements</a:t>
            </a:r>
            <a:endParaRPr lang="en-US" sz="1100" dirty="0"/>
          </a:p>
        </p:txBody>
      </p:sp>
      <p:sp>
        <p:nvSpPr>
          <p:cNvPr id="15" name="Shape 12"/>
          <p:cNvSpPr/>
          <p:nvPr/>
        </p:nvSpPr>
        <p:spPr>
          <a:xfrm>
            <a:off x="0" y="4754880"/>
            <a:ext cx="9144000" cy="388620"/>
          </a:xfrm>
          <a:prstGeom prst="rect">
            <a:avLst/>
          </a:prstGeom>
          <a:solidFill>
            <a:srgbClr val="0B2545"/>
          </a:solidFill>
          <a:ln/>
        </p:spPr>
      </p:sp>
      <p:sp>
        <p:nvSpPr>
          <p:cNvPr id="16" name="Text 13"/>
          <p:cNvSpPr/>
          <p:nvPr/>
        </p:nvSpPr>
        <p:spPr>
          <a:xfrm>
            <a:off x="457200" y="4773168"/>
            <a:ext cx="8229600" cy="36576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Hotel Reservation &amp; Billing Management System</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640080" y="320040"/>
            <a:ext cx="7315200" cy="548640"/>
          </a:xfrm>
          <a:prstGeom prst="rect">
            <a:avLst/>
          </a:prstGeom>
          <a:noFill/>
          <a:ln/>
        </p:spPr>
        <p:txBody>
          <a:bodyPr wrap="square" lIns="0" tIns="0" rIns="0" bIns="0" rtlCol="0" anchor="ctr"/>
          <a:lstStyle/>
          <a:p>
            <a:pPr indent="0" marL="0">
              <a:buNone/>
            </a:pPr>
            <a:r>
              <a:rPr lang="en-US" sz="2800" b="1" dirty="0">
                <a:solidFill>
                  <a:srgbClr val="0B2545"/>
                </a:solidFill>
                <a:latin typeface="Georgia" pitchFamily="34" charset="0"/>
                <a:ea typeface="Georgia" pitchFamily="34" charset="-122"/>
                <a:cs typeface="Georgia" pitchFamily="34" charset="-120"/>
              </a:rPr>
              <a:t>Power BI Dashboard</a:t>
            </a:r>
            <a:endParaRPr lang="en-US" sz="2800" dirty="0"/>
          </a:p>
        </p:txBody>
      </p:sp>
      <p:sp>
        <p:nvSpPr>
          <p:cNvPr id="3" name="Shape 1"/>
          <p:cNvSpPr/>
          <p:nvPr/>
        </p:nvSpPr>
        <p:spPr>
          <a:xfrm>
            <a:off x="640080" y="868680"/>
            <a:ext cx="1097280" cy="36576"/>
          </a:xfrm>
          <a:prstGeom prst="rect">
            <a:avLst/>
          </a:prstGeom>
          <a:solidFill>
            <a:srgbClr val="0EA5E9"/>
          </a:solidFill>
          <a:ln/>
        </p:spPr>
      </p:sp>
      <p:sp>
        <p:nvSpPr>
          <p:cNvPr id="4" name="Shape 2"/>
          <p:cNvSpPr/>
          <p:nvPr/>
        </p:nvSpPr>
        <p:spPr>
          <a:xfrm>
            <a:off x="640080" y="1097280"/>
            <a:ext cx="1828800" cy="1188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5" name="Shape 3"/>
          <p:cNvSpPr/>
          <p:nvPr/>
        </p:nvSpPr>
        <p:spPr>
          <a:xfrm>
            <a:off x="640080" y="1097280"/>
            <a:ext cx="1828800" cy="54864"/>
          </a:xfrm>
          <a:prstGeom prst="rect">
            <a:avLst/>
          </a:prstGeom>
          <a:solidFill>
            <a:srgbClr val="065A82"/>
          </a:solidFill>
          <a:ln/>
        </p:spPr>
      </p:sp>
      <p:sp>
        <p:nvSpPr>
          <p:cNvPr id="6" name="Text 4"/>
          <p:cNvSpPr/>
          <p:nvPr/>
        </p:nvSpPr>
        <p:spPr>
          <a:xfrm>
            <a:off x="640080" y="1234440"/>
            <a:ext cx="1828800" cy="502920"/>
          </a:xfrm>
          <a:prstGeom prst="rect">
            <a:avLst/>
          </a:prstGeom>
          <a:noFill/>
          <a:ln/>
        </p:spPr>
        <p:txBody>
          <a:bodyPr wrap="square" lIns="0" tIns="0" rIns="0" bIns="0" rtlCol="0" anchor="ctr"/>
          <a:lstStyle/>
          <a:p>
            <a:pPr algn="ctr" indent="0" marL="0">
              <a:buNone/>
            </a:pPr>
            <a:r>
              <a:rPr lang="en-US" sz="2200" b="1" dirty="0">
                <a:solidFill>
                  <a:srgbClr val="065A82"/>
                </a:solidFill>
                <a:latin typeface="Georgia" pitchFamily="34" charset="0"/>
                <a:ea typeface="Georgia" pitchFamily="34" charset="-122"/>
                <a:cs typeface="Georgia" pitchFamily="34" charset="-120"/>
              </a:rPr>
              <a:t>3.57%</a:t>
            </a:r>
            <a:endParaRPr lang="en-US" sz="2200" dirty="0"/>
          </a:p>
        </p:txBody>
      </p:sp>
      <p:sp>
        <p:nvSpPr>
          <p:cNvPr id="7" name="Text 5"/>
          <p:cNvSpPr/>
          <p:nvPr/>
        </p:nvSpPr>
        <p:spPr>
          <a:xfrm>
            <a:off x="640080" y="1719072"/>
            <a:ext cx="1828800" cy="274320"/>
          </a:xfrm>
          <a:prstGeom prst="rect">
            <a:avLst/>
          </a:prstGeom>
          <a:noFill/>
          <a:ln/>
        </p:spPr>
        <p:txBody>
          <a:bodyPr wrap="square" lIns="0" tIns="0" rIns="0" bIns="0" rtlCol="0" anchor="ctr"/>
          <a:lstStyle/>
          <a:p>
            <a:pPr algn="ctr" indent="0" marL="0">
              <a:buNone/>
            </a:pPr>
            <a:r>
              <a:rPr lang="en-US" sz="1000" b="1" dirty="0">
                <a:solidFill>
                  <a:srgbClr val="1E293B"/>
                </a:solidFill>
                <a:latin typeface="Calibri" pitchFamily="34" charset="0"/>
                <a:ea typeface="Calibri" pitchFamily="34" charset="-122"/>
                <a:cs typeface="Calibri" pitchFamily="34" charset="-120"/>
              </a:rPr>
              <a:t>Occupancy Rate</a:t>
            </a:r>
            <a:endParaRPr lang="en-US" sz="1000" dirty="0"/>
          </a:p>
        </p:txBody>
      </p:sp>
      <p:sp>
        <p:nvSpPr>
          <p:cNvPr id="8" name="Text 6"/>
          <p:cNvSpPr/>
          <p:nvPr/>
        </p:nvSpPr>
        <p:spPr>
          <a:xfrm>
            <a:off x="640080" y="1965960"/>
            <a:ext cx="1828800" cy="228600"/>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Target: 70-80%</a:t>
            </a:r>
            <a:endParaRPr lang="en-US" sz="800" dirty="0"/>
          </a:p>
        </p:txBody>
      </p:sp>
      <p:sp>
        <p:nvSpPr>
          <p:cNvPr id="9" name="Shape 7"/>
          <p:cNvSpPr/>
          <p:nvPr/>
        </p:nvSpPr>
        <p:spPr>
          <a:xfrm>
            <a:off x="2788920" y="1097280"/>
            <a:ext cx="1828800" cy="1188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2788920" y="1097280"/>
            <a:ext cx="1828800" cy="54864"/>
          </a:xfrm>
          <a:prstGeom prst="rect">
            <a:avLst/>
          </a:prstGeom>
          <a:solidFill>
            <a:srgbClr val="1C7293"/>
          </a:solidFill>
          <a:ln/>
        </p:spPr>
      </p:sp>
      <p:sp>
        <p:nvSpPr>
          <p:cNvPr id="11" name="Text 9"/>
          <p:cNvSpPr/>
          <p:nvPr/>
        </p:nvSpPr>
        <p:spPr>
          <a:xfrm>
            <a:off x="2788920" y="1234440"/>
            <a:ext cx="1828800" cy="502920"/>
          </a:xfrm>
          <a:prstGeom prst="rect">
            <a:avLst/>
          </a:prstGeom>
          <a:noFill/>
          <a:ln/>
        </p:spPr>
        <p:txBody>
          <a:bodyPr wrap="square" lIns="0" tIns="0" rIns="0" bIns="0" rtlCol="0" anchor="ctr"/>
          <a:lstStyle/>
          <a:p>
            <a:pPr algn="ctr" indent="0" marL="0">
              <a:buNone/>
            </a:pPr>
            <a:r>
              <a:rPr lang="en-US" sz="2200" b="1" dirty="0">
                <a:solidFill>
                  <a:srgbClr val="1C7293"/>
                </a:solidFill>
                <a:latin typeface="Georgia" pitchFamily="34" charset="0"/>
                <a:ea typeface="Georgia" pitchFamily="34" charset="-122"/>
                <a:cs typeface="Georgia" pitchFamily="34" charset="-120"/>
              </a:rPr>
              <a:t>4.8 nights</a:t>
            </a:r>
            <a:endParaRPr lang="en-US" sz="2200" dirty="0"/>
          </a:p>
        </p:txBody>
      </p:sp>
      <p:sp>
        <p:nvSpPr>
          <p:cNvPr id="12" name="Text 10"/>
          <p:cNvSpPr/>
          <p:nvPr/>
        </p:nvSpPr>
        <p:spPr>
          <a:xfrm>
            <a:off x="2788920" y="1719072"/>
            <a:ext cx="1828800" cy="274320"/>
          </a:xfrm>
          <a:prstGeom prst="rect">
            <a:avLst/>
          </a:prstGeom>
          <a:noFill/>
          <a:ln/>
        </p:spPr>
        <p:txBody>
          <a:bodyPr wrap="square" lIns="0" tIns="0" rIns="0" bIns="0" rtlCol="0" anchor="ctr"/>
          <a:lstStyle/>
          <a:p>
            <a:pPr algn="ctr" indent="0" marL="0">
              <a:buNone/>
            </a:pPr>
            <a:r>
              <a:rPr lang="en-US" sz="1000" b="1" dirty="0">
                <a:solidFill>
                  <a:srgbClr val="1E293B"/>
                </a:solidFill>
                <a:latin typeface="Calibri" pitchFamily="34" charset="0"/>
                <a:ea typeface="Calibri" pitchFamily="34" charset="-122"/>
                <a:cs typeface="Calibri" pitchFamily="34" charset="-120"/>
              </a:rPr>
              <a:t>Avg. Length of Stay</a:t>
            </a:r>
            <a:endParaRPr lang="en-US" sz="1000" dirty="0"/>
          </a:p>
        </p:txBody>
      </p:sp>
      <p:sp>
        <p:nvSpPr>
          <p:cNvPr id="13" name="Shape 11"/>
          <p:cNvSpPr/>
          <p:nvPr/>
        </p:nvSpPr>
        <p:spPr>
          <a:xfrm>
            <a:off x="4937760" y="1097280"/>
            <a:ext cx="1828800" cy="1188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937760" y="1097280"/>
            <a:ext cx="1828800" cy="54864"/>
          </a:xfrm>
          <a:prstGeom prst="rect">
            <a:avLst/>
          </a:prstGeom>
          <a:solidFill>
            <a:srgbClr val="10B981"/>
          </a:solidFill>
          <a:ln/>
        </p:spPr>
      </p:sp>
      <p:sp>
        <p:nvSpPr>
          <p:cNvPr id="15" name="Text 13"/>
          <p:cNvSpPr/>
          <p:nvPr/>
        </p:nvSpPr>
        <p:spPr>
          <a:xfrm>
            <a:off x="4937760" y="1234440"/>
            <a:ext cx="1828800" cy="502920"/>
          </a:xfrm>
          <a:prstGeom prst="rect">
            <a:avLst/>
          </a:prstGeom>
          <a:noFill/>
          <a:ln/>
        </p:spPr>
        <p:txBody>
          <a:bodyPr wrap="square" lIns="0" tIns="0" rIns="0" bIns="0" rtlCol="0" anchor="ctr"/>
          <a:lstStyle/>
          <a:p>
            <a:pPr algn="ctr" indent="0" marL="0">
              <a:buNone/>
            </a:pPr>
            <a:r>
              <a:rPr lang="en-US" sz="2200" b="1" dirty="0">
                <a:solidFill>
                  <a:srgbClr val="10B981"/>
                </a:solidFill>
                <a:latin typeface="Georgia" pitchFamily="34" charset="0"/>
                <a:ea typeface="Georgia" pitchFamily="34" charset="-122"/>
                <a:cs typeface="Georgia" pitchFamily="34" charset="-120"/>
              </a:rPr>
              <a:t>3.5%</a:t>
            </a:r>
            <a:endParaRPr lang="en-US" sz="2200" dirty="0"/>
          </a:p>
        </p:txBody>
      </p:sp>
      <p:sp>
        <p:nvSpPr>
          <p:cNvPr id="16" name="Text 14"/>
          <p:cNvSpPr/>
          <p:nvPr/>
        </p:nvSpPr>
        <p:spPr>
          <a:xfrm>
            <a:off x="4937760" y="1719072"/>
            <a:ext cx="1828800" cy="274320"/>
          </a:xfrm>
          <a:prstGeom prst="rect">
            <a:avLst/>
          </a:prstGeom>
          <a:noFill/>
          <a:ln/>
        </p:spPr>
        <p:txBody>
          <a:bodyPr wrap="square" lIns="0" tIns="0" rIns="0" bIns="0" rtlCol="0" anchor="ctr"/>
          <a:lstStyle/>
          <a:p>
            <a:pPr algn="ctr" indent="0" marL="0">
              <a:buNone/>
            </a:pPr>
            <a:r>
              <a:rPr lang="en-US" sz="1000" b="1" dirty="0">
                <a:solidFill>
                  <a:srgbClr val="1E293B"/>
                </a:solidFill>
                <a:latin typeface="Calibri" pitchFamily="34" charset="0"/>
                <a:ea typeface="Calibri" pitchFamily="34" charset="-122"/>
                <a:cs typeface="Calibri" pitchFamily="34" charset="-120"/>
              </a:rPr>
              <a:t>Cancellation Rate</a:t>
            </a:r>
            <a:endParaRPr lang="en-US" sz="1000" dirty="0"/>
          </a:p>
        </p:txBody>
      </p:sp>
      <p:sp>
        <p:nvSpPr>
          <p:cNvPr id="17" name="Text 15"/>
          <p:cNvSpPr/>
          <p:nvPr/>
        </p:nvSpPr>
        <p:spPr>
          <a:xfrm>
            <a:off x="4937760" y="1965960"/>
            <a:ext cx="1828800" cy="228600"/>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Industry: 20-40%</a:t>
            </a:r>
            <a:endParaRPr lang="en-US" sz="800" dirty="0"/>
          </a:p>
        </p:txBody>
      </p:sp>
      <p:sp>
        <p:nvSpPr>
          <p:cNvPr id="18" name="Shape 16"/>
          <p:cNvSpPr/>
          <p:nvPr/>
        </p:nvSpPr>
        <p:spPr>
          <a:xfrm>
            <a:off x="7086600" y="1097280"/>
            <a:ext cx="1828800" cy="1188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9" name="Shape 17"/>
          <p:cNvSpPr/>
          <p:nvPr/>
        </p:nvSpPr>
        <p:spPr>
          <a:xfrm>
            <a:off x="7086600" y="1097280"/>
            <a:ext cx="1828800" cy="54864"/>
          </a:xfrm>
          <a:prstGeom prst="rect">
            <a:avLst/>
          </a:prstGeom>
          <a:solidFill>
            <a:srgbClr val="F59E0B"/>
          </a:solidFill>
          <a:ln/>
        </p:spPr>
      </p:sp>
      <p:sp>
        <p:nvSpPr>
          <p:cNvPr id="20" name="Text 18"/>
          <p:cNvSpPr/>
          <p:nvPr/>
        </p:nvSpPr>
        <p:spPr>
          <a:xfrm>
            <a:off x="7086600" y="1234440"/>
            <a:ext cx="1828800" cy="502920"/>
          </a:xfrm>
          <a:prstGeom prst="rect">
            <a:avLst/>
          </a:prstGeom>
          <a:noFill/>
          <a:ln/>
        </p:spPr>
        <p:txBody>
          <a:bodyPr wrap="square" lIns="0" tIns="0" rIns="0" bIns="0" rtlCol="0" anchor="ctr"/>
          <a:lstStyle/>
          <a:p>
            <a:pPr algn="ctr" indent="0" marL="0">
              <a:buNone/>
            </a:pPr>
            <a:r>
              <a:rPr lang="en-US" sz="2200" b="1" dirty="0">
                <a:solidFill>
                  <a:srgbClr val="F59E0B"/>
                </a:solidFill>
                <a:latin typeface="Georgia" pitchFamily="34" charset="0"/>
                <a:ea typeface="Georgia" pitchFamily="34" charset="-122"/>
                <a:cs typeface="Georgia" pitchFamily="34" charset="-120"/>
              </a:rPr>
              <a:t>&gt; 4.0/5.0</a:t>
            </a:r>
            <a:endParaRPr lang="en-US" sz="2200" dirty="0"/>
          </a:p>
        </p:txBody>
      </p:sp>
      <p:sp>
        <p:nvSpPr>
          <p:cNvPr id="21" name="Text 19"/>
          <p:cNvSpPr/>
          <p:nvPr/>
        </p:nvSpPr>
        <p:spPr>
          <a:xfrm>
            <a:off x="7086600" y="1719072"/>
            <a:ext cx="1828800" cy="274320"/>
          </a:xfrm>
          <a:prstGeom prst="rect">
            <a:avLst/>
          </a:prstGeom>
          <a:noFill/>
          <a:ln/>
        </p:spPr>
        <p:txBody>
          <a:bodyPr wrap="square" lIns="0" tIns="0" rIns="0" bIns="0" rtlCol="0" anchor="ctr"/>
          <a:lstStyle/>
          <a:p>
            <a:pPr algn="ctr" indent="0" marL="0">
              <a:buNone/>
            </a:pPr>
            <a:r>
              <a:rPr lang="en-US" sz="1000" b="1" dirty="0">
                <a:solidFill>
                  <a:srgbClr val="1E293B"/>
                </a:solidFill>
                <a:latin typeface="Calibri" pitchFamily="34" charset="0"/>
                <a:ea typeface="Calibri" pitchFamily="34" charset="-122"/>
                <a:cs typeface="Calibri" pitchFamily="34" charset="-120"/>
              </a:rPr>
              <a:t>Guest Satisfaction</a:t>
            </a:r>
            <a:endParaRPr lang="en-US" sz="1000" dirty="0"/>
          </a:p>
        </p:txBody>
      </p:sp>
      <p:sp>
        <p:nvSpPr>
          <p:cNvPr id="22" name="Text 20"/>
          <p:cNvSpPr/>
          <p:nvPr/>
        </p:nvSpPr>
        <p:spPr>
          <a:xfrm>
            <a:off x="7086600" y="1965960"/>
            <a:ext cx="1828800" cy="228600"/>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Target: &gt; 4.0</a:t>
            </a:r>
            <a:endParaRPr lang="en-US" sz="800" dirty="0"/>
          </a:p>
        </p:txBody>
      </p:sp>
      <p:sp>
        <p:nvSpPr>
          <p:cNvPr id="23" name="Text 21"/>
          <p:cNvSpPr/>
          <p:nvPr/>
        </p:nvSpPr>
        <p:spPr>
          <a:xfrm>
            <a:off x="640080" y="2514600"/>
            <a:ext cx="7863840" cy="320040"/>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Dashboard Features</a:t>
            </a:r>
            <a:endParaRPr lang="en-US" sz="1500" dirty="0"/>
          </a:p>
        </p:txBody>
      </p:sp>
      <p:sp>
        <p:nvSpPr>
          <p:cNvPr id="24" name="Shape 22"/>
          <p:cNvSpPr/>
          <p:nvPr/>
        </p:nvSpPr>
        <p:spPr>
          <a:xfrm>
            <a:off x="640080" y="2926080"/>
            <a:ext cx="3840480" cy="5943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5" name="Shape 23"/>
          <p:cNvSpPr/>
          <p:nvPr/>
        </p:nvSpPr>
        <p:spPr>
          <a:xfrm>
            <a:off x="640080" y="2926080"/>
            <a:ext cx="54864" cy="594360"/>
          </a:xfrm>
          <a:prstGeom prst="rect">
            <a:avLst/>
          </a:prstGeom>
          <a:solidFill>
            <a:srgbClr val="0EA5E9"/>
          </a:solidFill>
          <a:ln/>
        </p:spPr>
      </p:sp>
      <p:sp>
        <p:nvSpPr>
          <p:cNvPr id="26" name="Text 24"/>
          <p:cNvSpPr/>
          <p:nvPr/>
        </p:nvSpPr>
        <p:spPr>
          <a:xfrm>
            <a:off x="822960" y="2953512"/>
            <a:ext cx="3474720" cy="256032"/>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Executive Summary</a:t>
            </a:r>
            <a:endParaRPr lang="en-US" sz="1100" dirty="0"/>
          </a:p>
        </p:txBody>
      </p:sp>
      <p:sp>
        <p:nvSpPr>
          <p:cNvPr id="27" name="Text 25"/>
          <p:cNvSpPr/>
          <p:nvPr/>
        </p:nvSpPr>
        <p:spPr>
          <a:xfrm>
            <a:off x="822960" y="3218688"/>
            <a:ext cx="347472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Revenue, occupancy, top KPIs at a glance</a:t>
            </a:r>
            <a:endParaRPr lang="en-US" sz="1000" dirty="0"/>
          </a:p>
        </p:txBody>
      </p:sp>
      <p:sp>
        <p:nvSpPr>
          <p:cNvPr id="28" name="Shape 26"/>
          <p:cNvSpPr/>
          <p:nvPr/>
        </p:nvSpPr>
        <p:spPr>
          <a:xfrm>
            <a:off x="4800600" y="2926080"/>
            <a:ext cx="3840480" cy="5943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9" name="Shape 27"/>
          <p:cNvSpPr/>
          <p:nvPr/>
        </p:nvSpPr>
        <p:spPr>
          <a:xfrm>
            <a:off x="4800600" y="2926080"/>
            <a:ext cx="54864" cy="594360"/>
          </a:xfrm>
          <a:prstGeom prst="rect">
            <a:avLst/>
          </a:prstGeom>
          <a:solidFill>
            <a:srgbClr val="0EA5E9"/>
          </a:solidFill>
          <a:ln/>
        </p:spPr>
      </p:sp>
      <p:sp>
        <p:nvSpPr>
          <p:cNvPr id="30" name="Text 28"/>
          <p:cNvSpPr/>
          <p:nvPr/>
        </p:nvSpPr>
        <p:spPr>
          <a:xfrm>
            <a:off x="4983480" y="2953512"/>
            <a:ext cx="3474720" cy="256032"/>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Interactive Slicers</a:t>
            </a:r>
            <a:endParaRPr lang="en-US" sz="1100" dirty="0"/>
          </a:p>
        </p:txBody>
      </p:sp>
      <p:sp>
        <p:nvSpPr>
          <p:cNvPr id="31" name="Text 29"/>
          <p:cNvSpPr/>
          <p:nvPr/>
        </p:nvSpPr>
        <p:spPr>
          <a:xfrm>
            <a:off x="4983480" y="3218688"/>
            <a:ext cx="347472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Filter by Room Type, Date, Building, Booking Source</a:t>
            </a:r>
            <a:endParaRPr lang="en-US" sz="1000" dirty="0"/>
          </a:p>
        </p:txBody>
      </p:sp>
      <p:sp>
        <p:nvSpPr>
          <p:cNvPr id="32" name="Shape 30"/>
          <p:cNvSpPr/>
          <p:nvPr/>
        </p:nvSpPr>
        <p:spPr>
          <a:xfrm>
            <a:off x="640080" y="3657600"/>
            <a:ext cx="3840480" cy="5943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3" name="Shape 31"/>
          <p:cNvSpPr/>
          <p:nvPr/>
        </p:nvSpPr>
        <p:spPr>
          <a:xfrm>
            <a:off x="640080" y="3657600"/>
            <a:ext cx="54864" cy="594360"/>
          </a:xfrm>
          <a:prstGeom prst="rect">
            <a:avLst/>
          </a:prstGeom>
          <a:solidFill>
            <a:srgbClr val="0EA5E9"/>
          </a:solidFill>
          <a:ln/>
        </p:spPr>
      </p:sp>
      <p:sp>
        <p:nvSpPr>
          <p:cNvPr id="34" name="Text 32"/>
          <p:cNvSpPr/>
          <p:nvPr/>
        </p:nvSpPr>
        <p:spPr>
          <a:xfrm>
            <a:off x="822960" y="3685032"/>
            <a:ext cx="3474720" cy="256032"/>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Revenue Analytics</a:t>
            </a:r>
            <a:endParaRPr lang="en-US" sz="1100" dirty="0"/>
          </a:p>
        </p:txBody>
      </p:sp>
      <p:sp>
        <p:nvSpPr>
          <p:cNvPr id="35" name="Text 33"/>
          <p:cNvSpPr/>
          <p:nvPr/>
        </p:nvSpPr>
        <p:spPr>
          <a:xfrm>
            <a:off x="822960" y="3950208"/>
            <a:ext cx="347472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Monthly trends, payment methods, service breakdown</a:t>
            </a:r>
            <a:endParaRPr lang="en-US" sz="1000" dirty="0"/>
          </a:p>
        </p:txBody>
      </p:sp>
      <p:sp>
        <p:nvSpPr>
          <p:cNvPr id="36" name="Shape 34"/>
          <p:cNvSpPr/>
          <p:nvPr/>
        </p:nvSpPr>
        <p:spPr>
          <a:xfrm>
            <a:off x="4800600" y="3657600"/>
            <a:ext cx="3840480" cy="59436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7" name="Shape 35"/>
          <p:cNvSpPr/>
          <p:nvPr/>
        </p:nvSpPr>
        <p:spPr>
          <a:xfrm>
            <a:off x="4800600" y="3657600"/>
            <a:ext cx="54864" cy="594360"/>
          </a:xfrm>
          <a:prstGeom prst="rect">
            <a:avLst/>
          </a:prstGeom>
          <a:solidFill>
            <a:srgbClr val="0EA5E9"/>
          </a:solidFill>
          <a:ln/>
        </p:spPr>
      </p:sp>
      <p:sp>
        <p:nvSpPr>
          <p:cNvPr id="38" name="Text 36"/>
          <p:cNvSpPr/>
          <p:nvPr/>
        </p:nvSpPr>
        <p:spPr>
          <a:xfrm>
            <a:off x="4983480" y="3685032"/>
            <a:ext cx="3474720" cy="256032"/>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Operational Views</a:t>
            </a:r>
            <a:endParaRPr lang="en-US" sz="1100" dirty="0"/>
          </a:p>
        </p:txBody>
      </p:sp>
      <p:sp>
        <p:nvSpPr>
          <p:cNvPr id="39" name="Text 37"/>
          <p:cNvSpPr/>
          <p:nvPr/>
        </p:nvSpPr>
        <p:spPr>
          <a:xfrm>
            <a:off x="4983480" y="3950208"/>
            <a:ext cx="347472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Housekeeping performance, staff activity tracking</a:t>
            </a:r>
            <a:endParaRPr lang="en-US" sz="1000" dirty="0"/>
          </a:p>
        </p:txBody>
      </p:sp>
      <p:sp>
        <p:nvSpPr>
          <p:cNvPr id="40" name="Shape 38"/>
          <p:cNvSpPr/>
          <p:nvPr/>
        </p:nvSpPr>
        <p:spPr>
          <a:xfrm>
            <a:off x="0" y="4754880"/>
            <a:ext cx="9144000" cy="388620"/>
          </a:xfrm>
          <a:prstGeom prst="rect">
            <a:avLst/>
          </a:prstGeom>
          <a:solidFill>
            <a:srgbClr val="0B2545"/>
          </a:solidFill>
          <a:ln/>
        </p:spPr>
      </p:sp>
      <p:sp>
        <p:nvSpPr>
          <p:cNvPr id="41" name="Text 39"/>
          <p:cNvSpPr/>
          <p:nvPr/>
        </p:nvSpPr>
        <p:spPr>
          <a:xfrm>
            <a:off x="457200" y="4773168"/>
            <a:ext cx="8229600" cy="36576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Hotel Reservation &amp; Billing Management System</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2545"/>
        </a:solidFill>
      </p:bgPr>
    </p:bg>
    <p:spTree>
      <p:nvGrpSpPr>
        <p:cNvPr id="1" name=""/>
        <p:cNvGrpSpPr/>
        <p:nvPr/>
      </p:nvGrpSpPr>
      <p:grpSpPr>
        <a:xfrm>
          <a:off x="0" y="0"/>
          <a:ext cx="0" cy="0"/>
          <a:chOff x="0" y="0"/>
          <a:chExt cx="0" cy="0"/>
        </a:xfrm>
      </p:grpSpPr>
      <p:sp>
        <p:nvSpPr>
          <p:cNvPr id="2" name="Text 0"/>
          <p:cNvSpPr/>
          <p:nvPr/>
        </p:nvSpPr>
        <p:spPr>
          <a:xfrm>
            <a:off x="640080" y="274320"/>
            <a:ext cx="7315200" cy="54864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Key Business Insights</a:t>
            </a:r>
            <a:endParaRPr lang="en-US" sz="2800" dirty="0"/>
          </a:p>
        </p:txBody>
      </p:sp>
      <p:sp>
        <p:nvSpPr>
          <p:cNvPr id="3" name="Shape 1"/>
          <p:cNvSpPr/>
          <p:nvPr/>
        </p:nvSpPr>
        <p:spPr>
          <a:xfrm>
            <a:off x="640080" y="804672"/>
            <a:ext cx="1097280" cy="36576"/>
          </a:xfrm>
          <a:prstGeom prst="rect">
            <a:avLst/>
          </a:prstGeom>
          <a:solidFill>
            <a:srgbClr val="0EA5E9"/>
          </a:solidFill>
          <a:ln/>
        </p:spPr>
      </p:sp>
      <p:sp>
        <p:nvSpPr>
          <p:cNvPr id="4" name="Shape 2"/>
          <p:cNvSpPr/>
          <p:nvPr/>
        </p:nvSpPr>
        <p:spPr>
          <a:xfrm>
            <a:off x="868680" y="1115568"/>
            <a:ext cx="292608" cy="292608"/>
          </a:xfrm>
          <a:prstGeom prst="rect">
            <a:avLst/>
          </a:prstGeom>
          <a:solidFill>
            <a:srgbClr val="0EA5E9"/>
          </a:solidFill>
          <a:ln/>
        </p:spPr>
      </p:sp>
      <p:sp>
        <p:nvSpPr>
          <p:cNvPr id="5" name="Text 3"/>
          <p:cNvSpPr/>
          <p:nvPr/>
        </p:nvSpPr>
        <p:spPr>
          <a:xfrm>
            <a:off x="868680" y="1115568"/>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371600" y="1051560"/>
            <a:ext cx="713232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Revenue concentration risk: Top 3 guests = disproportionate share of total spend</a:t>
            </a:r>
            <a:endParaRPr lang="en-US" sz="1200" dirty="0"/>
          </a:p>
        </p:txBody>
      </p:sp>
      <p:sp>
        <p:nvSpPr>
          <p:cNvPr id="7" name="Shape 5"/>
          <p:cNvSpPr/>
          <p:nvPr/>
        </p:nvSpPr>
        <p:spPr>
          <a:xfrm>
            <a:off x="868680" y="1645920"/>
            <a:ext cx="292608" cy="292608"/>
          </a:xfrm>
          <a:prstGeom prst="rect">
            <a:avLst/>
          </a:prstGeom>
          <a:solidFill>
            <a:srgbClr val="0EA5E9"/>
          </a:solidFill>
          <a:ln/>
        </p:spPr>
      </p:sp>
      <p:sp>
        <p:nvSpPr>
          <p:cNvPr id="8" name="Text 6"/>
          <p:cNvSpPr/>
          <p:nvPr/>
        </p:nvSpPr>
        <p:spPr>
          <a:xfrm>
            <a:off x="868680" y="1645920"/>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9" name="Text 7"/>
          <p:cNvSpPr/>
          <p:nvPr/>
        </p:nvSpPr>
        <p:spPr>
          <a:xfrm>
            <a:off x="1371600" y="1581912"/>
            <a:ext cx="713232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Spa is the top revenue driver per use (550 EGP/use) — underexploited</a:t>
            </a:r>
            <a:endParaRPr lang="en-US" sz="1200" dirty="0"/>
          </a:p>
        </p:txBody>
      </p:sp>
      <p:sp>
        <p:nvSpPr>
          <p:cNvPr id="10" name="Shape 8"/>
          <p:cNvSpPr/>
          <p:nvPr/>
        </p:nvSpPr>
        <p:spPr>
          <a:xfrm>
            <a:off x="868680" y="2176272"/>
            <a:ext cx="292608" cy="292608"/>
          </a:xfrm>
          <a:prstGeom prst="rect">
            <a:avLst/>
          </a:prstGeom>
          <a:solidFill>
            <a:srgbClr val="0EA5E9"/>
          </a:solidFill>
          <a:ln/>
        </p:spPr>
      </p:sp>
      <p:sp>
        <p:nvSpPr>
          <p:cNvPr id="11" name="Text 9"/>
          <p:cNvSpPr/>
          <p:nvPr/>
        </p:nvSpPr>
        <p:spPr>
          <a:xfrm>
            <a:off x="868680" y="2176272"/>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2" name="Text 10"/>
          <p:cNvSpPr/>
          <p:nvPr/>
        </p:nvSpPr>
        <p:spPr>
          <a:xfrm>
            <a:off x="1371600" y="2112264"/>
            <a:ext cx="713232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January = peak month for bookings and payment processing</a:t>
            </a:r>
            <a:endParaRPr lang="en-US" sz="1200" dirty="0"/>
          </a:p>
        </p:txBody>
      </p:sp>
      <p:sp>
        <p:nvSpPr>
          <p:cNvPr id="13" name="Shape 11"/>
          <p:cNvSpPr/>
          <p:nvPr/>
        </p:nvSpPr>
        <p:spPr>
          <a:xfrm>
            <a:off x="868680" y="2706624"/>
            <a:ext cx="292608" cy="292608"/>
          </a:xfrm>
          <a:prstGeom prst="rect">
            <a:avLst/>
          </a:prstGeom>
          <a:solidFill>
            <a:srgbClr val="0EA5E9"/>
          </a:solidFill>
          <a:ln/>
        </p:spPr>
      </p:sp>
      <p:sp>
        <p:nvSpPr>
          <p:cNvPr id="14" name="Text 12"/>
          <p:cNvSpPr/>
          <p:nvPr/>
        </p:nvSpPr>
        <p:spPr>
          <a:xfrm>
            <a:off x="868680" y="2706624"/>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p:nvPr/>
        </p:nvSpPr>
        <p:spPr>
          <a:xfrm>
            <a:off x="1371600" y="2642616"/>
            <a:ext cx="713232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Walk-in bookings carry higher no-show rates than other channels</a:t>
            </a:r>
            <a:endParaRPr lang="en-US" sz="1200" dirty="0"/>
          </a:p>
        </p:txBody>
      </p:sp>
      <p:sp>
        <p:nvSpPr>
          <p:cNvPr id="16" name="Shape 14"/>
          <p:cNvSpPr/>
          <p:nvPr/>
        </p:nvSpPr>
        <p:spPr>
          <a:xfrm>
            <a:off x="868680" y="3236976"/>
            <a:ext cx="292608" cy="292608"/>
          </a:xfrm>
          <a:prstGeom prst="rect">
            <a:avLst/>
          </a:prstGeom>
          <a:solidFill>
            <a:srgbClr val="0EA5E9"/>
          </a:solidFill>
          <a:ln/>
        </p:spPr>
      </p:sp>
      <p:sp>
        <p:nvSpPr>
          <p:cNvPr id="17" name="Text 15"/>
          <p:cNvSpPr/>
          <p:nvPr/>
        </p:nvSpPr>
        <p:spPr>
          <a:xfrm>
            <a:off x="868680" y="3236976"/>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8" name="Text 16"/>
          <p:cNvSpPr/>
          <p:nvPr/>
        </p:nvSpPr>
        <p:spPr>
          <a:xfrm>
            <a:off x="1371600" y="3172968"/>
            <a:ext cx="713232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Direct bookings are most profitable: higher spend, lower cancellations</a:t>
            </a:r>
            <a:endParaRPr lang="en-US" sz="1200" dirty="0"/>
          </a:p>
        </p:txBody>
      </p:sp>
      <p:sp>
        <p:nvSpPr>
          <p:cNvPr id="19" name="Shape 17"/>
          <p:cNvSpPr/>
          <p:nvPr/>
        </p:nvSpPr>
        <p:spPr>
          <a:xfrm>
            <a:off x="868680" y="3767328"/>
            <a:ext cx="292608" cy="292608"/>
          </a:xfrm>
          <a:prstGeom prst="rect">
            <a:avLst/>
          </a:prstGeom>
          <a:solidFill>
            <a:srgbClr val="0EA5E9"/>
          </a:solidFill>
          <a:ln/>
        </p:spPr>
      </p:sp>
      <p:sp>
        <p:nvSpPr>
          <p:cNvPr id="20" name="Text 18"/>
          <p:cNvSpPr/>
          <p:nvPr/>
        </p:nvSpPr>
        <p:spPr>
          <a:xfrm>
            <a:off x="868680" y="3767328"/>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1" name="Text 19"/>
          <p:cNvSpPr/>
          <p:nvPr/>
        </p:nvSpPr>
        <p:spPr>
          <a:xfrm>
            <a:off x="1371600" y="3703320"/>
            <a:ext cx="713232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Building B2 shows more late housekeeping sessions (staffing gap)</a:t>
            </a:r>
            <a:endParaRPr lang="en-US" sz="1200" dirty="0"/>
          </a:p>
        </p:txBody>
      </p:sp>
      <p:sp>
        <p:nvSpPr>
          <p:cNvPr id="22" name="Shape 20"/>
          <p:cNvSpPr/>
          <p:nvPr/>
        </p:nvSpPr>
        <p:spPr>
          <a:xfrm>
            <a:off x="868680" y="4297680"/>
            <a:ext cx="292608" cy="292608"/>
          </a:xfrm>
          <a:prstGeom prst="rect">
            <a:avLst/>
          </a:prstGeom>
          <a:solidFill>
            <a:srgbClr val="0EA5E9"/>
          </a:solidFill>
          <a:ln/>
        </p:spPr>
      </p:sp>
      <p:sp>
        <p:nvSpPr>
          <p:cNvPr id="23" name="Text 21"/>
          <p:cNvSpPr/>
          <p:nvPr/>
        </p:nvSpPr>
        <p:spPr>
          <a:xfrm>
            <a:off x="868680" y="4297680"/>
            <a:ext cx="292608" cy="29260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24" name="Text 22"/>
          <p:cNvSpPr/>
          <p:nvPr/>
        </p:nvSpPr>
        <p:spPr>
          <a:xfrm>
            <a:off x="1371600" y="4233672"/>
            <a:ext cx="713232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RF model: longer stays at higher rates = lowest cancellation risk</a:t>
            </a:r>
            <a:endParaRPr lang="en-US" sz="1200" dirty="0"/>
          </a:p>
        </p:txBody>
      </p:sp>
      <p:sp>
        <p:nvSpPr>
          <p:cNvPr id="25" name="Shape 23"/>
          <p:cNvSpPr/>
          <p:nvPr/>
        </p:nvSpPr>
        <p:spPr>
          <a:xfrm>
            <a:off x="0" y="4754880"/>
            <a:ext cx="9144000" cy="388620"/>
          </a:xfrm>
          <a:prstGeom prst="rect">
            <a:avLst/>
          </a:prstGeom>
          <a:solidFill>
            <a:srgbClr val="0B2545"/>
          </a:solidFill>
          <a:ln/>
        </p:spPr>
      </p:sp>
      <p:sp>
        <p:nvSpPr>
          <p:cNvPr id="26" name="Text 24"/>
          <p:cNvSpPr/>
          <p:nvPr/>
        </p:nvSpPr>
        <p:spPr>
          <a:xfrm>
            <a:off x="457200" y="4773168"/>
            <a:ext cx="8229600" cy="36576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Hotel Reservation &amp; Billing Management System</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640080" y="320040"/>
            <a:ext cx="7315200" cy="548640"/>
          </a:xfrm>
          <a:prstGeom prst="rect">
            <a:avLst/>
          </a:prstGeom>
          <a:noFill/>
          <a:ln/>
        </p:spPr>
        <p:txBody>
          <a:bodyPr wrap="square" lIns="0" tIns="0" rIns="0" bIns="0" rtlCol="0" anchor="ctr"/>
          <a:lstStyle/>
          <a:p>
            <a:pPr indent="0" marL="0">
              <a:buNone/>
            </a:pPr>
            <a:r>
              <a:rPr lang="en-US" sz="2800" b="1" dirty="0">
                <a:solidFill>
                  <a:srgbClr val="0B2545"/>
                </a:solidFill>
                <a:latin typeface="Georgia" pitchFamily="34" charset="0"/>
                <a:ea typeface="Georgia" pitchFamily="34" charset="-122"/>
                <a:cs typeface="Georgia" pitchFamily="34" charset="-120"/>
              </a:rPr>
              <a:t>Recommendations</a:t>
            </a:r>
            <a:endParaRPr lang="en-US" sz="2800" dirty="0"/>
          </a:p>
        </p:txBody>
      </p:sp>
      <p:sp>
        <p:nvSpPr>
          <p:cNvPr id="3" name="Shape 1"/>
          <p:cNvSpPr/>
          <p:nvPr/>
        </p:nvSpPr>
        <p:spPr>
          <a:xfrm>
            <a:off x="640080" y="868680"/>
            <a:ext cx="1097280" cy="36576"/>
          </a:xfrm>
          <a:prstGeom prst="rect">
            <a:avLst/>
          </a:prstGeom>
          <a:solidFill>
            <a:srgbClr val="0EA5E9"/>
          </a:solidFill>
          <a:ln/>
        </p:spPr>
      </p:sp>
      <p:sp>
        <p:nvSpPr>
          <p:cNvPr id="4" name="Shape 2"/>
          <p:cNvSpPr/>
          <p:nvPr/>
        </p:nvSpPr>
        <p:spPr>
          <a:xfrm>
            <a:off x="457200" y="1097280"/>
            <a:ext cx="269748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5" name="Shape 3"/>
          <p:cNvSpPr/>
          <p:nvPr/>
        </p:nvSpPr>
        <p:spPr>
          <a:xfrm>
            <a:off x="457200" y="1097280"/>
            <a:ext cx="2697480" cy="502920"/>
          </a:xfrm>
          <a:prstGeom prst="rect">
            <a:avLst/>
          </a:prstGeom>
          <a:solidFill>
            <a:srgbClr val="065A82"/>
          </a:solidFill>
          <a:ln/>
        </p:spPr>
      </p:sp>
      <p:sp>
        <p:nvSpPr>
          <p:cNvPr id="6" name="Text 4"/>
          <p:cNvSpPr/>
          <p:nvPr/>
        </p:nvSpPr>
        <p:spPr>
          <a:xfrm>
            <a:off x="457200" y="1097280"/>
            <a:ext cx="269748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Revenue</a:t>
            </a:r>
            <a:endParaRPr lang="en-US" sz="1600" dirty="0"/>
          </a:p>
        </p:txBody>
      </p:sp>
      <p:sp>
        <p:nvSpPr>
          <p:cNvPr id="7" name="Shape 5"/>
          <p:cNvSpPr/>
          <p:nvPr/>
        </p:nvSpPr>
        <p:spPr>
          <a:xfrm>
            <a:off x="594360" y="1783080"/>
            <a:ext cx="2423160" cy="731520"/>
          </a:xfrm>
          <a:prstGeom prst="rect">
            <a:avLst/>
          </a:prstGeom>
          <a:solidFill>
            <a:srgbClr val="F7FAFC"/>
          </a:solidFill>
          <a:ln/>
        </p:spPr>
      </p:sp>
      <p:sp>
        <p:nvSpPr>
          <p:cNvPr id="8" name="Shape 6"/>
          <p:cNvSpPr/>
          <p:nvPr/>
        </p:nvSpPr>
        <p:spPr>
          <a:xfrm>
            <a:off x="594360" y="1783080"/>
            <a:ext cx="45720" cy="731520"/>
          </a:xfrm>
          <a:prstGeom prst="rect">
            <a:avLst/>
          </a:prstGeom>
          <a:solidFill>
            <a:srgbClr val="065A82"/>
          </a:solidFill>
          <a:ln/>
        </p:spPr>
      </p:sp>
      <p:sp>
        <p:nvSpPr>
          <p:cNvPr id="9" name="Text 7"/>
          <p:cNvSpPr/>
          <p:nvPr/>
        </p:nvSpPr>
        <p:spPr>
          <a:xfrm>
            <a:off x="777240" y="1828800"/>
            <a:ext cx="2103120" cy="640080"/>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Dynamic pricing for Double rooms on peak weekends</a:t>
            </a:r>
            <a:endParaRPr lang="en-US" sz="1000" dirty="0"/>
          </a:p>
        </p:txBody>
      </p:sp>
      <p:sp>
        <p:nvSpPr>
          <p:cNvPr id="10" name="Shape 8"/>
          <p:cNvSpPr/>
          <p:nvPr/>
        </p:nvSpPr>
        <p:spPr>
          <a:xfrm>
            <a:off x="594360" y="2697480"/>
            <a:ext cx="2423160" cy="731520"/>
          </a:xfrm>
          <a:prstGeom prst="rect">
            <a:avLst/>
          </a:prstGeom>
          <a:solidFill>
            <a:srgbClr val="F7FAFC"/>
          </a:solidFill>
          <a:ln/>
        </p:spPr>
      </p:sp>
      <p:sp>
        <p:nvSpPr>
          <p:cNvPr id="11" name="Shape 9"/>
          <p:cNvSpPr/>
          <p:nvPr/>
        </p:nvSpPr>
        <p:spPr>
          <a:xfrm>
            <a:off x="594360" y="2697480"/>
            <a:ext cx="45720" cy="731520"/>
          </a:xfrm>
          <a:prstGeom prst="rect">
            <a:avLst/>
          </a:prstGeom>
          <a:solidFill>
            <a:srgbClr val="065A82"/>
          </a:solidFill>
          <a:ln/>
        </p:spPr>
      </p:sp>
      <p:sp>
        <p:nvSpPr>
          <p:cNvPr id="12" name="Text 10"/>
          <p:cNvSpPr/>
          <p:nvPr/>
        </p:nvSpPr>
        <p:spPr>
          <a:xfrm>
            <a:off x="777240" y="2743200"/>
            <a:ext cx="2103120" cy="640080"/>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Spa + Room packages for Suite guests</a:t>
            </a:r>
            <a:endParaRPr lang="en-US" sz="1000" dirty="0"/>
          </a:p>
        </p:txBody>
      </p:sp>
      <p:sp>
        <p:nvSpPr>
          <p:cNvPr id="13" name="Shape 11"/>
          <p:cNvSpPr/>
          <p:nvPr/>
        </p:nvSpPr>
        <p:spPr>
          <a:xfrm>
            <a:off x="594360" y="3611880"/>
            <a:ext cx="2423160" cy="731520"/>
          </a:xfrm>
          <a:prstGeom prst="rect">
            <a:avLst/>
          </a:prstGeom>
          <a:solidFill>
            <a:srgbClr val="F7FAFC"/>
          </a:solidFill>
          <a:ln/>
        </p:spPr>
      </p:sp>
      <p:sp>
        <p:nvSpPr>
          <p:cNvPr id="14" name="Shape 12"/>
          <p:cNvSpPr/>
          <p:nvPr/>
        </p:nvSpPr>
        <p:spPr>
          <a:xfrm>
            <a:off x="594360" y="3611880"/>
            <a:ext cx="45720" cy="731520"/>
          </a:xfrm>
          <a:prstGeom prst="rect">
            <a:avLst/>
          </a:prstGeom>
          <a:solidFill>
            <a:srgbClr val="065A82"/>
          </a:solidFill>
          <a:ln/>
        </p:spPr>
      </p:sp>
      <p:sp>
        <p:nvSpPr>
          <p:cNvPr id="15" name="Text 13"/>
          <p:cNvSpPr/>
          <p:nvPr/>
        </p:nvSpPr>
        <p:spPr>
          <a:xfrm>
            <a:off x="777240" y="3657600"/>
            <a:ext cx="2103120" cy="640080"/>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5% direct booking discount to reduce OTA commissions</a:t>
            </a:r>
            <a:endParaRPr lang="en-US" sz="1000" dirty="0"/>
          </a:p>
        </p:txBody>
      </p:sp>
      <p:sp>
        <p:nvSpPr>
          <p:cNvPr id="16" name="Shape 14"/>
          <p:cNvSpPr/>
          <p:nvPr/>
        </p:nvSpPr>
        <p:spPr>
          <a:xfrm>
            <a:off x="3337560" y="1097280"/>
            <a:ext cx="269748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7" name="Shape 15"/>
          <p:cNvSpPr/>
          <p:nvPr/>
        </p:nvSpPr>
        <p:spPr>
          <a:xfrm>
            <a:off x="3337560" y="1097280"/>
            <a:ext cx="2697480" cy="502920"/>
          </a:xfrm>
          <a:prstGeom prst="rect">
            <a:avLst/>
          </a:prstGeom>
          <a:solidFill>
            <a:srgbClr val="1C7293"/>
          </a:solidFill>
          <a:ln/>
        </p:spPr>
      </p:sp>
      <p:sp>
        <p:nvSpPr>
          <p:cNvPr id="18" name="Text 16"/>
          <p:cNvSpPr/>
          <p:nvPr/>
        </p:nvSpPr>
        <p:spPr>
          <a:xfrm>
            <a:off x="3337560" y="1097280"/>
            <a:ext cx="269748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Occupancy</a:t>
            </a:r>
            <a:endParaRPr lang="en-US" sz="1600" dirty="0"/>
          </a:p>
        </p:txBody>
      </p:sp>
      <p:sp>
        <p:nvSpPr>
          <p:cNvPr id="19" name="Shape 17"/>
          <p:cNvSpPr/>
          <p:nvPr/>
        </p:nvSpPr>
        <p:spPr>
          <a:xfrm>
            <a:off x="3474720" y="1783080"/>
            <a:ext cx="2423160" cy="731520"/>
          </a:xfrm>
          <a:prstGeom prst="rect">
            <a:avLst/>
          </a:prstGeom>
          <a:solidFill>
            <a:srgbClr val="F7FAFC"/>
          </a:solidFill>
          <a:ln/>
        </p:spPr>
      </p:sp>
      <p:sp>
        <p:nvSpPr>
          <p:cNvPr id="20" name="Shape 18"/>
          <p:cNvSpPr/>
          <p:nvPr/>
        </p:nvSpPr>
        <p:spPr>
          <a:xfrm>
            <a:off x="3474720" y="1783080"/>
            <a:ext cx="45720" cy="731520"/>
          </a:xfrm>
          <a:prstGeom prst="rect">
            <a:avLst/>
          </a:prstGeom>
          <a:solidFill>
            <a:srgbClr val="1C7293"/>
          </a:solidFill>
          <a:ln/>
        </p:spPr>
      </p:sp>
      <p:sp>
        <p:nvSpPr>
          <p:cNvPr id="21" name="Text 19"/>
          <p:cNvSpPr/>
          <p:nvPr/>
        </p:nvSpPr>
        <p:spPr>
          <a:xfrm>
            <a:off x="3657600" y="1828800"/>
            <a:ext cx="2103120" cy="640080"/>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Target Cairo/Alex corporate accounts for mid-week stays</a:t>
            </a:r>
            <a:endParaRPr lang="en-US" sz="1000" dirty="0"/>
          </a:p>
        </p:txBody>
      </p:sp>
      <p:sp>
        <p:nvSpPr>
          <p:cNvPr id="22" name="Shape 20"/>
          <p:cNvSpPr/>
          <p:nvPr/>
        </p:nvSpPr>
        <p:spPr>
          <a:xfrm>
            <a:off x="3474720" y="2697480"/>
            <a:ext cx="2423160" cy="731520"/>
          </a:xfrm>
          <a:prstGeom prst="rect">
            <a:avLst/>
          </a:prstGeom>
          <a:solidFill>
            <a:srgbClr val="F7FAFC"/>
          </a:solidFill>
          <a:ln/>
        </p:spPr>
      </p:sp>
      <p:sp>
        <p:nvSpPr>
          <p:cNvPr id="23" name="Shape 21"/>
          <p:cNvSpPr/>
          <p:nvPr/>
        </p:nvSpPr>
        <p:spPr>
          <a:xfrm>
            <a:off x="3474720" y="2697480"/>
            <a:ext cx="45720" cy="731520"/>
          </a:xfrm>
          <a:prstGeom prst="rect">
            <a:avLst/>
          </a:prstGeom>
          <a:solidFill>
            <a:srgbClr val="1C7293"/>
          </a:solidFill>
          <a:ln/>
        </p:spPr>
      </p:sp>
      <p:sp>
        <p:nvSpPr>
          <p:cNvPr id="24" name="Text 22"/>
          <p:cNvSpPr/>
          <p:nvPr/>
        </p:nvSpPr>
        <p:spPr>
          <a:xfrm>
            <a:off x="3657600" y="2743200"/>
            <a:ext cx="2103120" cy="640080"/>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2-night weekend packages for nearby cities</a:t>
            </a:r>
            <a:endParaRPr lang="en-US" sz="1000" dirty="0"/>
          </a:p>
        </p:txBody>
      </p:sp>
      <p:sp>
        <p:nvSpPr>
          <p:cNvPr id="25" name="Shape 23"/>
          <p:cNvSpPr/>
          <p:nvPr/>
        </p:nvSpPr>
        <p:spPr>
          <a:xfrm>
            <a:off x="3474720" y="3611880"/>
            <a:ext cx="2423160" cy="731520"/>
          </a:xfrm>
          <a:prstGeom prst="rect">
            <a:avLst/>
          </a:prstGeom>
          <a:solidFill>
            <a:srgbClr val="F7FAFC"/>
          </a:solidFill>
          <a:ln/>
        </p:spPr>
      </p:sp>
      <p:sp>
        <p:nvSpPr>
          <p:cNvPr id="26" name="Shape 24"/>
          <p:cNvSpPr/>
          <p:nvPr/>
        </p:nvSpPr>
        <p:spPr>
          <a:xfrm>
            <a:off x="3474720" y="3611880"/>
            <a:ext cx="45720" cy="731520"/>
          </a:xfrm>
          <a:prstGeom prst="rect">
            <a:avLst/>
          </a:prstGeom>
          <a:solidFill>
            <a:srgbClr val="1C7293"/>
          </a:solidFill>
          <a:ln/>
        </p:spPr>
      </p:sp>
      <p:sp>
        <p:nvSpPr>
          <p:cNvPr id="27" name="Text 25"/>
          <p:cNvSpPr/>
          <p:nvPr/>
        </p:nvSpPr>
        <p:spPr>
          <a:xfrm>
            <a:off x="3657600" y="3657600"/>
            <a:ext cx="2103120" cy="640080"/>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Last-minute 10% discounts (48hr before arrival)</a:t>
            </a:r>
            <a:endParaRPr lang="en-US" sz="1000" dirty="0"/>
          </a:p>
        </p:txBody>
      </p:sp>
      <p:sp>
        <p:nvSpPr>
          <p:cNvPr id="28" name="Shape 26"/>
          <p:cNvSpPr/>
          <p:nvPr/>
        </p:nvSpPr>
        <p:spPr>
          <a:xfrm>
            <a:off x="6217920" y="1097280"/>
            <a:ext cx="269748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9" name="Shape 27"/>
          <p:cNvSpPr/>
          <p:nvPr/>
        </p:nvSpPr>
        <p:spPr>
          <a:xfrm>
            <a:off x="6217920" y="1097280"/>
            <a:ext cx="2697480" cy="502920"/>
          </a:xfrm>
          <a:prstGeom prst="rect">
            <a:avLst/>
          </a:prstGeom>
          <a:solidFill>
            <a:srgbClr val="F59E0B"/>
          </a:solidFill>
          <a:ln/>
        </p:spPr>
      </p:sp>
      <p:sp>
        <p:nvSpPr>
          <p:cNvPr id="30" name="Text 28"/>
          <p:cNvSpPr/>
          <p:nvPr/>
        </p:nvSpPr>
        <p:spPr>
          <a:xfrm>
            <a:off x="6217920" y="1097280"/>
            <a:ext cx="269748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Data Quality</a:t>
            </a:r>
            <a:endParaRPr lang="en-US" sz="1600" dirty="0"/>
          </a:p>
        </p:txBody>
      </p:sp>
      <p:sp>
        <p:nvSpPr>
          <p:cNvPr id="31" name="Shape 29"/>
          <p:cNvSpPr/>
          <p:nvPr/>
        </p:nvSpPr>
        <p:spPr>
          <a:xfrm>
            <a:off x="6355080" y="1783080"/>
            <a:ext cx="2423160" cy="731520"/>
          </a:xfrm>
          <a:prstGeom prst="rect">
            <a:avLst/>
          </a:prstGeom>
          <a:solidFill>
            <a:srgbClr val="F7FAFC"/>
          </a:solidFill>
          <a:ln/>
        </p:spPr>
      </p:sp>
      <p:sp>
        <p:nvSpPr>
          <p:cNvPr id="32" name="Shape 30"/>
          <p:cNvSpPr/>
          <p:nvPr/>
        </p:nvSpPr>
        <p:spPr>
          <a:xfrm>
            <a:off x="6355080" y="1783080"/>
            <a:ext cx="45720" cy="731520"/>
          </a:xfrm>
          <a:prstGeom prst="rect">
            <a:avLst/>
          </a:prstGeom>
          <a:solidFill>
            <a:srgbClr val="F59E0B"/>
          </a:solidFill>
          <a:ln/>
        </p:spPr>
      </p:sp>
      <p:sp>
        <p:nvSpPr>
          <p:cNvPr id="33" name="Text 31"/>
          <p:cNvSpPr/>
          <p:nvPr/>
        </p:nvSpPr>
        <p:spPr>
          <a:xfrm>
            <a:off x="6537960" y="1828800"/>
            <a:ext cx="2103120" cy="640080"/>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Make Booking_Source mandatory (15% NULL currently)</a:t>
            </a:r>
            <a:endParaRPr lang="en-US" sz="1000" dirty="0"/>
          </a:p>
        </p:txBody>
      </p:sp>
      <p:sp>
        <p:nvSpPr>
          <p:cNvPr id="34" name="Shape 32"/>
          <p:cNvSpPr/>
          <p:nvPr/>
        </p:nvSpPr>
        <p:spPr>
          <a:xfrm>
            <a:off x="6355080" y="2697480"/>
            <a:ext cx="2423160" cy="731520"/>
          </a:xfrm>
          <a:prstGeom prst="rect">
            <a:avLst/>
          </a:prstGeom>
          <a:solidFill>
            <a:srgbClr val="F7FAFC"/>
          </a:solidFill>
          <a:ln/>
        </p:spPr>
      </p:sp>
      <p:sp>
        <p:nvSpPr>
          <p:cNvPr id="35" name="Shape 33"/>
          <p:cNvSpPr/>
          <p:nvPr/>
        </p:nvSpPr>
        <p:spPr>
          <a:xfrm>
            <a:off x="6355080" y="2697480"/>
            <a:ext cx="45720" cy="731520"/>
          </a:xfrm>
          <a:prstGeom prst="rect">
            <a:avLst/>
          </a:prstGeom>
          <a:solidFill>
            <a:srgbClr val="F59E0B"/>
          </a:solidFill>
          <a:ln/>
        </p:spPr>
      </p:sp>
      <p:sp>
        <p:nvSpPr>
          <p:cNvPr id="36" name="Text 34"/>
          <p:cNvSpPr/>
          <p:nvPr/>
        </p:nvSpPr>
        <p:spPr>
          <a:xfrm>
            <a:off x="6537960" y="2743200"/>
            <a:ext cx="2103120" cy="640080"/>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Require CancellationReason field</a:t>
            </a:r>
            <a:endParaRPr lang="en-US" sz="1000" dirty="0"/>
          </a:p>
        </p:txBody>
      </p:sp>
      <p:sp>
        <p:nvSpPr>
          <p:cNvPr id="37" name="Shape 35"/>
          <p:cNvSpPr/>
          <p:nvPr/>
        </p:nvSpPr>
        <p:spPr>
          <a:xfrm>
            <a:off x="6355080" y="3611880"/>
            <a:ext cx="2423160" cy="731520"/>
          </a:xfrm>
          <a:prstGeom prst="rect">
            <a:avLst/>
          </a:prstGeom>
          <a:solidFill>
            <a:srgbClr val="F7FAFC"/>
          </a:solidFill>
          <a:ln/>
        </p:spPr>
      </p:sp>
      <p:sp>
        <p:nvSpPr>
          <p:cNvPr id="38" name="Shape 36"/>
          <p:cNvSpPr/>
          <p:nvPr/>
        </p:nvSpPr>
        <p:spPr>
          <a:xfrm>
            <a:off x="6355080" y="3611880"/>
            <a:ext cx="45720" cy="731520"/>
          </a:xfrm>
          <a:prstGeom prst="rect">
            <a:avLst/>
          </a:prstGeom>
          <a:solidFill>
            <a:srgbClr val="F59E0B"/>
          </a:solidFill>
          <a:ln/>
        </p:spPr>
      </p:sp>
      <p:sp>
        <p:nvSpPr>
          <p:cNvPr id="39" name="Text 37"/>
          <p:cNvSpPr/>
          <p:nvPr/>
        </p:nvSpPr>
        <p:spPr>
          <a:xfrm>
            <a:off x="6537960" y="3657600"/>
            <a:ext cx="2103120" cy="640080"/>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Auto-trigger status updates on payment completion</a:t>
            </a:r>
            <a:endParaRPr lang="en-US" sz="1000" dirty="0"/>
          </a:p>
        </p:txBody>
      </p:sp>
      <p:sp>
        <p:nvSpPr>
          <p:cNvPr id="40" name="Shape 38"/>
          <p:cNvSpPr/>
          <p:nvPr/>
        </p:nvSpPr>
        <p:spPr>
          <a:xfrm>
            <a:off x="0" y="4754880"/>
            <a:ext cx="9144000" cy="388620"/>
          </a:xfrm>
          <a:prstGeom prst="rect">
            <a:avLst/>
          </a:prstGeom>
          <a:solidFill>
            <a:srgbClr val="0B2545"/>
          </a:solidFill>
          <a:ln/>
        </p:spPr>
      </p:sp>
      <p:sp>
        <p:nvSpPr>
          <p:cNvPr id="41" name="Text 39"/>
          <p:cNvSpPr/>
          <p:nvPr/>
        </p:nvSpPr>
        <p:spPr>
          <a:xfrm>
            <a:off x="457200" y="4773168"/>
            <a:ext cx="8229600" cy="36576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Hotel Reservation &amp; Billing Management System</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0" y="0"/>
            <a:ext cx="9144000" cy="1371600"/>
          </a:xfrm>
          <a:prstGeom prst="rect">
            <a:avLst/>
          </a:prstGeom>
          <a:solidFill>
            <a:srgbClr val="065A82">
              <a:alpha val="60000"/>
            </a:srgbClr>
          </a:solidFill>
          <a:ln/>
        </p:spPr>
      </p:sp>
      <p:pic>
        <p:nvPicPr>
          <p:cNvPr id="3" name="Image 0" descr="preencoded.png">    </p:cNvPr>
          <p:cNvPicPr>
            <a:picLocks noChangeAspect="1"/>
          </p:cNvPicPr>
          <p:nvPr/>
        </p:nvPicPr>
        <p:blipFill>
          <a:blip r:embed="rId1"/>
          <a:stretch>
            <a:fillRect/>
          </a:stretch>
        </p:blipFill>
        <p:spPr>
          <a:xfrm>
            <a:off x="4023360" y="274320"/>
            <a:ext cx="640080" cy="640080"/>
          </a:xfrm>
          <a:prstGeom prst="rect">
            <a:avLst/>
          </a:prstGeom>
        </p:spPr>
      </p:pic>
      <p:sp>
        <p:nvSpPr>
          <p:cNvPr id="4" name="Text 1"/>
          <p:cNvSpPr/>
          <p:nvPr/>
        </p:nvSpPr>
        <p:spPr>
          <a:xfrm>
            <a:off x="457200" y="868680"/>
            <a:ext cx="8229600" cy="502920"/>
          </a:xfrm>
          <a:prstGeom prst="rect">
            <a:avLst/>
          </a:prstGeom>
          <a:noFill/>
          <a:ln/>
        </p:spPr>
        <p:txBody>
          <a:bodyPr wrap="square" rtlCol="0" anchor="ctr"/>
          <a:lstStyle/>
          <a:p>
            <a:pPr algn="ctr" indent="0" marL="0">
              <a:buNone/>
            </a:pPr>
            <a:r>
              <a:rPr lang="en-US" sz="3000" b="1" dirty="0">
                <a:solidFill>
                  <a:srgbClr val="FFFFFF"/>
                </a:solidFill>
                <a:latin typeface="Georgia" pitchFamily="34" charset="0"/>
                <a:ea typeface="Georgia" pitchFamily="34" charset="-122"/>
                <a:cs typeface="Georgia" pitchFamily="34" charset="-120"/>
              </a:rPr>
              <a:t>Conclusion</a:t>
            </a:r>
            <a:endParaRPr lang="en-US" sz="3000" dirty="0"/>
          </a:p>
        </p:txBody>
      </p:sp>
      <p:sp>
        <p:nvSpPr>
          <p:cNvPr id="5" name="Shape 2"/>
          <p:cNvSpPr/>
          <p:nvPr/>
        </p:nvSpPr>
        <p:spPr>
          <a:xfrm>
            <a:off x="914400" y="1463040"/>
            <a:ext cx="7315200" cy="411480"/>
          </a:xfrm>
          <a:prstGeom prst="rect">
            <a:avLst/>
          </a:prstGeom>
          <a:solidFill>
            <a:srgbClr val="065A82">
              <a:alpha val="70000"/>
            </a:srgbClr>
          </a:solidFill>
          <a:ln/>
        </p:spPr>
      </p:sp>
      <p:pic>
        <p:nvPicPr>
          <p:cNvPr id="6" name="Image 1" descr="preencoded.png">    </p:cNvPr>
          <p:cNvPicPr>
            <a:picLocks noChangeAspect="1"/>
          </p:cNvPicPr>
          <p:nvPr/>
        </p:nvPicPr>
        <p:blipFill>
          <a:blip r:embed="rId2"/>
          <a:stretch>
            <a:fillRect/>
          </a:stretch>
        </p:blipFill>
        <p:spPr>
          <a:xfrm>
            <a:off x="1051560" y="1508760"/>
            <a:ext cx="320040" cy="320040"/>
          </a:xfrm>
          <a:prstGeom prst="rect">
            <a:avLst/>
          </a:prstGeom>
        </p:spPr>
      </p:pic>
      <p:sp>
        <p:nvSpPr>
          <p:cNvPr id="7" name="Text 3"/>
          <p:cNvSpPr/>
          <p:nvPr/>
        </p:nvSpPr>
        <p:spPr>
          <a:xfrm>
            <a:off x="1508760" y="1463040"/>
            <a:ext cx="6492240" cy="4114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13-entity relational database in 3NF with full SQL Server implementation</a:t>
            </a:r>
            <a:endParaRPr lang="en-US" sz="1200" dirty="0"/>
          </a:p>
        </p:txBody>
      </p:sp>
      <p:sp>
        <p:nvSpPr>
          <p:cNvPr id="8" name="Shape 4"/>
          <p:cNvSpPr/>
          <p:nvPr/>
        </p:nvSpPr>
        <p:spPr>
          <a:xfrm>
            <a:off x="914400" y="1965960"/>
            <a:ext cx="7315200" cy="411480"/>
          </a:xfrm>
          <a:prstGeom prst="rect">
            <a:avLst/>
          </a:prstGeom>
          <a:solidFill>
            <a:srgbClr val="065A82">
              <a:alpha val="70000"/>
            </a:srgbClr>
          </a:solidFill>
          <a:ln/>
        </p:spPr>
      </p:sp>
      <p:pic>
        <p:nvPicPr>
          <p:cNvPr id="9" name="Image 2" descr="preencoded.png">    </p:cNvPr>
          <p:cNvPicPr>
            <a:picLocks noChangeAspect="1"/>
          </p:cNvPicPr>
          <p:nvPr/>
        </p:nvPicPr>
        <p:blipFill>
          <a:blip r:embed="rId3"/>
          <a:stretch>
            <a:fillRect/>
          </a:stretch>
        </p:blipFill>
        <p:spPr>
          <a:xfrm>
            <a:off x="1051560" y="2011680"/>
            <a:ext cx="320040" cy="320040"/>
          </a:xfrm>
          <a:prstGeom prst="rect">
            <a:avLst/>
          </a:prstGeom>
        </p:spPr>
      </p:pic>
      <p:sp>
        <p:nvSpPr>
          <p:cNvPr id="10" name="Text 5"/>
          <p:cNvSpPr/>
          <p:nvPr/>
        </p:nvSpPr>
        <p:spPr>
          <a:xfrm>
            <a:off x="1508760" y="1965960"/>
            <a:ext cx="6492240" cy="4114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10 advanced SQL queries answering critical hotel management questions</a:t>
            </a:r>
            <a:endParaRPr lang="en-US" sz="1200" dirty="0"/>
          </a:p>
        </p:txBody>
      </p:sp>
      <p:sp>
        <p:nvSpPr>
          <p:cNvPr id="11" name="Shape 6"/>
          <p:cNvSpPr/>
          <p:nvPr/>
        </p:nvSpPr>
        <p:spPr>
          <a:xfrm>
            <a:off x="914400" y="2468880"/>
            <a:ext cx="7315200" cy="411480"/>
          </a:xfrm>
          <a:prstGeom prst="rect">
            <a:avLst/>
          </a:prstGeom>
          <a:solidFill>
            <a:srgbClr val="065A82">
              <a:alpha val="70000"/>
            </a:srgbClr>
          </a:solidFill>
          <a:ln/>
        </p:spPr>
      </p:sp>
      <p:pic>
        <p:nvPicPr>
          <p:cNvPr id="12" name="Image 3" descr="preencoded.png">    </p:cNvPr>
          <p:cNvPicPr>
            <a:picLocks noChangeAspect="1"/>
          </p:cNvPicPr>
          <p:nvPr/>
        </p:nvPicPr>
        <p:blipFill>
          <a:blip r:embed="rId4"/>
          <a:stretch>
            <a:fillRect/>
          </a:stretch>
        </p:blipFill>
        <p:spPr>
          <a:xfrm>
            <a:off x="1051560" y="2514600"/>
            <a:ext cx="320040" cy="320040"/>
          </a:xfrm>
          <a:prstGeom prst="rect">
            <a:avLst/>
          </a:prstGeom>
        </p:spPr>
      </p:pic>
      <p:sp>
        <p:nvSpPr>
          <p:cNvPr id="13" name="Text 7"/>
          <p:cNvSpPr/>
          <p:nvPr/>
        </p:nvSpPr>
        <p:spPr>
          <a:xfrm>
            <a:off x="1508760" y="2468880"/>
            <a:ext cx="6492240" cy="4114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Random Forest achieves 81% accuracy predicting reservation outcomes</a:t>
            </a:r>
            <a:endParaRPr lang="en-US" sz="1200" dirty="0"/>
          </a:p>
        </p:txBody>
      </p:sp>
      <p:sp>
        <p:nvSpPr>
          <p:cNvPr id="14" name="Shape 8"/>
          <p:cNvSpPr/>
          <p:nvPr/>
        </p:nvSpPr>
        <p:spPr>
          <a:xfrm>
            <a:off x="914400" y="2971800"/>
            <a:ext cx="7315200" cy="411480"/>
          </a:xfrm>
          <a:prstGeom prst="rect">
            <a:avLst/>
          </a:prstGeom>
          <a:solidFill>
            <a:srgbClr val="065A82">
              <a:alpha val="70000"/>
            </a:srgbClr>
          </a:solidFill>
          <a:ln/>
        </p:spPr>
      </p:sp>
      <p:pic>
        <p:nvPicPr>
          <p:cNvPr id="15" name="Image 4" descr="preencoded.png">    </p:cNvPr>
          <p:cNvPicPr>
            <a:picLocks noChangeAspect="1"/>
          </p:cNvPicPr>
          <p:nvPr/>
        </p:nvPicPr>
        <p:blipFill>
          <a:blip r:embed="rId5"/>
          <a:stretch>
            <a:fillRect/>
          </a:stretch>
        </p:blipFill>
        <p:spPr>
          <a:xfrm>
            <a:off x="1051560" y="3017520"/>
            <a:ext cx="320040" cy="320040"/>
          </a:xfrm>
          <a:prstGeom prst="rect">
            <a:avLst/>
          </a:prstGeom>
        </p:spPr>
      </p:pic>
      <p:sp>
        <p:nvSpPr>
          <p:cNvPr id="16" name="Text 9"/>
          <p:cNvSpPr/>
          <p:nvPr/>
        </p:nvSpPr>
        <p:spPr>
          <a:xfrm>
            <a:off x="1508760" y="2971800"/>
            <a:ext cx="6492240" cy="4114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Actionable insights: dynamic pricing, Spa investment, direct booking incentives</a:t>
            </a:r>
            <a:endParaRPr lang="en-US" sz="1200" dirty="0"/>
          </a:p>
        </p:txBody>
      </p:sp>
      <p:sp>
        <p:nvSpPr>
          <p:cNvPr id="17" name="Shape 10"/>
          <p:cNvSpPr/>
          <p:nvPr/>
        </p:nvSpPr>
        <p:spPr>
          <a:xfrm>
            <a:off x="914400" y="3474720"/>
            <a:ext cx="7315200" cy="411480"/>
          </a:xfrm>
          <a:prstGeom prst="rect">
            <a:avLst/>
          </a:prstGeom>
          <a:solidFill>
            <a:srgbClr val="065A82">
              <a:alpha val="70000"/>
            </a:srgbClr>
          </a:solidFill>
          <a:ln/>
        </p:spPr>
      </p:sp>
      <p:pic>
        <p:nvPicPr>
          <p:cNvPr id="18" name="Image 5" descr="preencoded.png">    </p:cNvPr>
          <p:cNvPicPr>
            <a:picLocks noChangeAspect="1"/>
          </p:cNvPicPr>
          <p:nvPr/>
        </p:nvPicPr>
        <p:blipFill>
          <a:blip r:embed="rId6"/>
          <a:stretch>
            <a:fillRect/>
          </a:stretch>
        </p:blipFill>
        <p:spPr>
          <a:xfrm>
            <a:off x="1051560" y="3520440"/>
            <a:ext cx="320040" cy="320040"/>
          </a:xfrm>
          <a:prstGeom prst="rect">
            <a:avLst/>
          </a:prstGeom>
        </p:spPr>
      </p:pic>
      <p:sp>
        <p:nvSpPr>
          <p:cNvPr id="19" name="Text 11"/>
          <p:cNvSpPr/>
          <p:nvPr/>
        </p:nvSpPr>
        <p:spPr>
          <a:xfrm>
            <a:off x="1508760" y="3474720"/>
            <a:ext cx="6492240" cy="4114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Complete pipeline: Database → SQL → EDA → ML → Power BI Dashboard</a:t>
            </a:r>
            <a:endParaRPr lang="en-US" sz="1200" dirty="0"/>
          </a:p>
        </p:txBody>
      </p:sp>
      <p:sp>
        <p:nvSpPr>
          <p:cNvPr id="20" name="Text 12"/>
          <p:cNvSpPr/>
          <p:nvPr/>
        </p:nvSpPr>
        <p:spPr>
          <a:xfrm>
            <a:off x="457200" y="4114800"/>
            <a:ext cx="8229600" cy="41148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Thank You!</a:t>
            </a:r>
            <a:endParaRPr lang="en-US" sz="2200" dirty="0"/>
          </a:p>
        </p:txBody>
      </p:sp>
      <p:sp>
        <p:nvSpPr>
          <p:cNvPr id="21" name="Text 13"/>
          <p:cNvSpPr/>
          <p:nvPr/>
        </p:nvSpPr>
        <p:spPr>
          <a:xfrm>
            <a:off x="457200" y="4526280"/>
            <a:ext cx="8229600" cy="274320"/>
          </a:xfrm>
          <a:prstGeom prst="rect">
            <a:avLst/>
          </a:prstGeom>
          <a:noFill/>
          <a:ln/>
        </p:spPr>
        <p:txBody>
          <a:bodyPr wrap="square" rtlCol="0" anchor="ctr"/>
          <a:lstStyle/>
          <a:p>
            <a:pPr algn="ctr" indent="0" marL="0">
              <a:buNone/>
            </a:pPr>
            <a:r>
              <a:rPr lang="en-US" sz="1000" dirty="0">
                <a:solidFill>
                  <a:srgbClr val="90CAF9"/>
                </a:solidFill>
                <a:latin typeface="Calibri" pitchFamily="34" charset="0"/>
                <a:ea typeface="Calibri" pitchFamily="34" charset="-122"/>
                <a:cs typeface="Calibri" pitchFamily="34" charset="-120"/>
              </a:rPr>
              <a:t>Rahma  |  Rowan  |  Rawan  |  Gehan  |  Rehab  |  Zahraa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Hotel Reservation &amp; Billing Management System</dc:title>
  <dc:subject>PptxGenJS Presentation</dc:subject>
  <dc:creator>Hotel Project Team</dc:creator>
  <cp:lastModifiedBy>Hotel Project Team</cp:lastModifiedBy>
  <cp:revision>1</cp:revision>
  <dcterms:created xsi:type="dcterms:W3CDTF">2026-03-27T01:47:05Z</dcterms:created>
  <dcterms:modified xsi:type="dcterms:W3CDTF">2026-03-27T01:47:05Z</dcterms:modified>
</cp:coreProperties>
</file>